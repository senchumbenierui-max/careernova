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9" r:id="rId6"/>
    <p:sldId id="275" r:id="rId7"/>
    <p:sldId id="260" r:id="rId8"/>
    <p:sldId id="261" r:id="rId9"/>
    <p:sldId id="270" r:id="rId10"/>
    <p:sldId id="271" r:id="rId11"/>
    <p:sldId id="273" r:id="rId12"/>
    <p:sldId id="276" r:id="rId13"/>
    <p:sldId id="277" r:id="rId14"/>
    <p:sldId id="278" r:id="rId15"/>
    <p:sldId id="279" r:id="rId31"/>
    <p:sldId id="268" r:id="rId16"/>
    <p:sldId id="267" r:id="rId17"/>
  </p:sldIdLst>
  <p:sldSz cx="18288000" cy="10287000"/>
  <p:notesSz cx="6858000" cy="9144000"/>
  <p:embeddedFontLst>
    <p:embeddedFont>
      <p:font typeface="Anantason Bold" panose="020B0604020202020204" charset="-34"/>
      <p:regular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Canva Sans Bold" panose="020B0604020202020204" charset="0"/>
      <p:regular r:id="rId25"/>
    </p:embeddedFont>
    <p:embeddedFont>
      <p:font typeface="Clou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  <Relationship Id="rId31" Type="http://schemas.openxmlformats.org/officeDocument/2006/relationships/slide" Target="slides/slide17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98B4A5-F56D-5AFB-E6AF-F4F7AEFA54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1571F-F2C3-B370-164C-445763ADE2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888C35-E651-4EDB-AE63-A8C2DEBA69A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0FC74-D37E-8B2F-DE97-786B2141BD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3DB3C-5A1E-C1E2-D420-8555CC3ABD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8E4DB-EEEC-4332-8FCE-B9501CEF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5456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3FCF0A-3FB3-4DFA-9F86-08644A9C8C8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9BA42-A5BA-409D-B14A-0835AA37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831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708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" y="6375493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234471" y="-18831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22500" y="1881782"/>
            <a:ext cx="5301390" cy="183383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2279"/>
              </a:lnSpc>
            </a:pPr>
            <a:endParaRPr dirty="0"/>
          </a:p>
          <a:p>
            <a:pPr algn="ctr">
              <a:lnSpc>
                <a:spcPts val="6019"/>
              </a:lnSpc>
            </a:pPr>
            <a:r>
              <a:rPr lang="en-US" sz="4299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 </a:t>
            </a:r>
          </a:p>
          <a:p>
            <a:pPr>
              <a:lnSpc>
                <a:spcPts val="6019"/>
              </a:lnSpc>
            </a:pPr>
            <a:r>
              <a:rPr lang="en-US" sz="4299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CAREERNOVA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9800" y="3860535"/>
            <a:ext cx="14229949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65"/>
              </a:lnSpc>
            </a:pPr>
            <a:r>
              <a:rPr lang="en-US" sz="3618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An Intelligent, Explainable Career Mentoring System Using</a:t>
            </a:r>
          </a:p>
          <a:p>
            <a:pPr algn="just">
              <a:lnSpc>
                <a:spcPts val="5065"/>
              </a:lnSpc>
            </a:pPr>
            <a:r>
              <a:rPr lang="en-US" sz="3618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Hybrid Machine Learning &amp; Knowledge Graphs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8873" y="6457950"/>
            <a:ext cx="10940058" cy="26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NAME : SENCHUMBENI C ERUI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REG. NUMBER : 2306107014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SUPERVISOR : MA’AM SALAM AMEETA 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DEPARTMENT : B .TECH COMPUTER SCIENCE &amp; ENGINEERING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62F4D0-C5A6-963A-C7C6-7BE7E87DA641}"/>
              </a:ext>
            </a:extLst>
          </p:cNvPr>
          <p:cNvCxnSpPr>
            <a:cxnSpLocks/>
          </p:cNvCxnSpPr>
          <p:nvPr/>
        </p:nvCxnSpPr>
        <p:spPr>
          <a:xfrm>
            <a:off x="4724400" y="5753100"/>
            <a:ext cx="5475422" cy="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B1526BE-518B-BCF2-E3C0-E8B5D1A56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87950"/>
            <a:ext cx="2572610" cy="249557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D07C3E-4813-602F-DCC4-9C318FD7E799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7325245" y="1849906"/>
            <a:ext cx="1412407" cy="1412407"/>
          </a:xfrm>
          <a:custGeom>
            <a:avLst/>
            <a:gdLst/>
            <a:ahLst/>
            <a:cxnLst/>
            <a:rect l="l" t="t" r="r" b="b"/>
            <a:pathLst>
              <a:path w="1412407" h="1412407">
                <a:moveTo>
                  <a:pt x="0" y="0"/>
                </a:moveTo>
                <a:lnTo>
                  <a:pt x="1412406" y="0"/>
                </a:lnTo>
                <a:lnTo>
                  <a:pt x="1412406" y="1412406"/>
                </a:lnTo>
                <a:lnTo>
                  <a:pt x="0" y="141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799143" y="3442578"/>
            <a:ext cx="2464611" cy="52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1"/>
              </a:lnSpc>
            </a:pPr>
            <a:r>
              <a:rPr lang="en-US" sz="3065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AIM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1519" y="4523156"/>
            <a:ext cx="15764962" cy="193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37"/>
              </a:lnSpc>
            </a:pPr>
            <a:r>
              <a:rPr lang="en-US" sz="3669" dirty="0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To build a smart system that looks at a student's academics, skills, interests, certificates, and projects — then suggests the right career, points out missing skills, and recommends courses to learn them.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22662F-8649-C440-236B-3724DCCE581D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2427601" y="407491"/>
            <a:ext cx="10890353" cy="1292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47"/>
              </a:lnSpc>
            </a:pPr>
            <a:r>
              <a:rPr lang="en-US" sz="7605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OBJECTIVES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2A03EA-2DF9-C456-17BF-815D29723DF7}"/>
              </a:ext>
            </a:extLst>
          </p:cNvPr>
          <p:cNvSpPr/>
          <p:nvPr/>
        </p:nvSpPr>
        <p:spPr>
          <a:xfrm>
            <a:off x="1720652" y="6608438"/>
            <a:ext cx="5747498" cy="16738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254E38-8C91-CEE5-F3F1-CF892F87A104}"/>
              </a:ext>
            </a:extLst>
          </p:cNvPr>
          <p:cNvSpPr/>
          <p:nvPr/>
        </p:nvSpPr>
        <p:spPr>
          <a:xfrm>
            <a:off x="1661709" y="2287852"/>
            <a:ext cx="5747498" cy="16738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B0583C-537E-CFDF-0136-DF406007AFA5}"/>
              </a:ext>
            </a:extLst>
          </p:cNvPr>
          <p:cNvSpPr/>
          <p:nvPr/>
        </p:nvSpPr>
        <p:spPr>
          <a:xfrm>
            <a:off x="1720652" y="4489250"/>
            <a:ext cx="5747498" cy="16738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0A7A27-5D11-75E0-5B8B-E9210B82BE15}"/>
              </a:ext>
            </a:extLst>
          </p:cNvPr>
          <p:cNvSpPr/>
          <p:nvPr/>
        </p:nvSpPr>
        <p:spPr>
          <a:xfrm>
            <a:off x="9690408" y="2287852"/>
            <a:ext cx="5747498" cy="16738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C27F65-245C-5F0C-8EF8-1D46424B0974}"/>
              </a:ext>
            </a:extLst>
          </p:cNvPr>
          <p:cNvSpPr/>
          <p:nvPr/>
        </p:nvSpPr>
        <p:spPr>
          <a:xfrm>
            <a:off x="9690408" y="6608438"/>
            <a:ext cx="5747498" cy="16738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278C7F-EB45-37B9-9E07-8A619E92DB38}"/>
              </a:ext>
            </a:extLst>
          </p:cNvPr>
          <p:cNvSpPr/>
          <p:nvPr/>
        </p:nvSpPr>
        <p:spPr>
          <a:xfrm>
            <a:off x="9690408" y="4493810"/>
            <a:ext cx="5747498" cy="16738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58A4DD-2B88-AAE3-5E4A-F9B85D7461B1}"/>
              </a:ext>
            </a:extLst>
          </p:cNvPr>
          <p:cNvSpPr txBox="1"/>
          <p:nvPr/>
        </p:nvSpPr>
        <p:spPr>
          <a:xfrm>
            <a:off x="2147057" y="2532311"/>
            <a:ext cx="518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2400" u="sng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each student career advice made just for them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D599FB-A943-1840-4400-5BD6F57F46DF}"/>
              </a:ext>
            </a:extLst>
          </p:cNvPr>
          <p:cNvSpPr txBox="1"/>
          <p:nvPr/>
        </p:nvSpPr>
        <p:spPr>
          <a:xfrm>
            <a:off x="10051241" y="2605217"/>
            <a:ext cx="50424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</a:rPr>
              <a:t>Holistic Profile Analysis</a:t>
            </a: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Looks at a student's full profile, not just one part of it.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DDC257-3993-7118-4453-67F9DFAC03B1}"/>
              </a:ext>
            </a:extLst>
          </p:cNvPr>
          <p:cNvSpPr txBox="1"/>
          <p:nvPr/>
        </p:nvSpPr>
        <p:spPr>
          <a:xfrm>
            <a:off x="1944658" y="4635340"/>
            <a:ext cx="5181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</a:rPr>
              <a:t>Skill Gap Identification</a:t>
            </a: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Finds out which skills a student is missing for the career they want.</a:t>
            </a:r>
          </a:p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A6A3F7-019B-38A5-EE41-96813E2B699A}"/>
              </a:ext>
            </a:extLst>
          </p:cNvPr>
          <p:cNvSpPr txBox="1"/>
          <p:nvPr/>
        </p:nvSpPr>
        <p:spPr>
          <a:xfrm>
            <a:off x="10059000" y="4727951"/>
            <a:ext cx="4648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</a:rPr>
              <a:t>Learning Path Suggestions</a:t>
            </a: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Suggest the right courses to fill those missing skills.</a:t>
            </a:r>
          </a:p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A8D962-8CD3-7D7A-28CC-AA27DF1CE612}"/>
              </a:ext>
            </a:extLst>
          </p:cNvPr>
          <p:cNvSpPr txBox="1"/>
          <p:nvPr/>
        </p:nvSpPr>
        <p:spPr>
          <a:xfrm>
            <a:off x="1961150" y="6821678"/>
            <a:ext cx="4957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</a:rPr>
              <a:t>Explainable AI</a:t>
            </a: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Explain every suggestion in simple, easy-to-understand terms.</a:t>
            </a:r>
          </a:p>
          <a:p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6E0C11-6BE2-AF93-7490-3027B7EA2A14}"/>
              </a:ext>
            </a:extLst>
          </p:cNvPr>
          <p:cNvSpPr txBox="1"/>
          <p:nvPr/>
        </p:nvSpPr>
        <p:spPr>
          <a:xfrm>
            <a:off x="10093478" y="6738298"/>
            <a:ext cx="4957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</a:rPr>
              <a:t>Rigorous Evaluation</a:t>
            </a: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 the system properly to prove it actually works well.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27B78-3C3E-6B1A-20BC-8CC2CD6040B6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762000" y="1409700"/>
            <a:ext cx="5309642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58"/>
              </a:lnSpc>
            </a:pPr>
            <a:r>
              <a:rPr lang="en-US" sz="6612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MOTIVATION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4698" y="4170155"/>
            <a:ext cx="12376375" cy="4257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Most career-guidance tools just use quizzes or basic keyword matching.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They look at one thing at a time, instead of a student's whole profile.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None of them explain why a certain career is suggested.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CareerNova</a:t>
            </a:r>
            <a:r>
              <a:rPr lang="en-US" sz="3399" dirty="0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 AI looks at the whole profile and clearly explains every suggestion, so students can trust and act on it.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2727219"/>
            <a:ext cx="1433820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4400" dirty="0">
                <a:solidFill>
                  <a:srgbClr val="0C3571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Picking the right career is hard — most students don't know exactly what skills each industry wants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1E3E11-3813-2813-1025-5432B77DF79C}"/>
              </a:ext>
            </a:extLst>
          </p:cNvPr>
          <p:cNvCxnSpPr/>
          <p:nvPr/>
        </p:nvCxnSpPr>
        <p:spPr>
          <a:xfrm>
            <a:off x="762000" y="2477448"/>
            <a:ext cx="58674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13CE7AF-A79B-3E25-D3EC-E4FC4B7DDFE9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A04E10-543A-0637-BBCC-1C0326D385D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85800" y="411480"/>
            <a:ext cx="12344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5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491273"/>
              </p:ext>
            </p:extLst>
          </p:nvPr>
        </p:nvGraphicFramePr>
        <p:xfrm>
          <a:off x="685800" y="1943100"/>
          <a:ext cx="15163802" cy="6141720"/>
        </p:xfrm>
        <a:graphic>
          <a:graphicData uri="http://schemas.openxmlformats.org/drawingml/2006/table">
            <a:tbl>
              <a:tblPr/>
              <a:tblGrid>
                <a:gridCol w="3704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5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3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Paper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Brief Summary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Ngoc-Quang Le, Duc Duong Hoang, Mai Vu Tran, Thi-Hai-Yen Vuong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i="1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CareerPathKG</a:t>
                      </a:r>
                      <a:r>
                        <a:rPr lang="en-US" sz="1800" i="1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: Knowledge Graph Integrated Framework for Career Intelligence (ACL Anthology, EACL 2026)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Uses a Knowledge Graph, transformer embeddings, and LLMs to connect careers, skills, and career paths — supporting CV assessment, job matching, and career guidance.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Congcong Han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i="1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 Study on Career Planning and Development Decisions of University Students Based on Improved Association Rule Algorithm (Inderscience)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Uses an improved Apriori algorithm with Spark to analyze student information and provide career recommendations, showing better accuracy and efficiency than compared methods.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6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Xiaojun Xu and Hui Gao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i="1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 Knowledge Graph-Integrated Recommendation Method for College Student Career Planning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Uses a Knowledge Graph, GCN, and Matrix Factorization to recommend suitable career options for college students, tested on three datasets with good recommendation performance.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10979E-E7E7-0A03-761C-4B3E746DE361}"/>
              </a:ext>
            </a:extLst>
          </p:cNvPr>
          <p:cNvCxnSpPr>
            <a:cxnSpLocks/>
          </p:cNvCxnSpPr>
          <p:nvPr/>
        </p:nvCxnSpPr>
        <p:spPr>
          <a:xfrm>
            <a:off x="685800" y="1303020"/>
            <a:ext cx="5715000" cy="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A5CF3E4-7925-2E2C-4FD6-7E0B846FB41A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2194560"/>
            <a:ext cx="12344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7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Research Gap</a:t>
            </a:r>
            <a:endParaRPr lang="en-US" sz="5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824" y="3634740"/>
            <a:ext cx="1659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27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career recommendation systems </a:t>
            </a:r>
            <a:r>
              <a:rPr lang="en-US" sz="27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rely on advanced but complex techniques</a:t>
            </a:r>
            <a:r>
              <a:rPr lang="en-US" sz="27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Knowledge Graph, GCNs, LLMs, and association-rule mining.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77824" y="5074920"/>
            <a:ext cx="16596360" cy="212598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9304" y="5308092"/>
            <a:ext cx="5486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15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GAP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9304" y="5801868"/>
            <a:ext cx="157734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255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simpler, explainable system that brings together career prediction, skill-gap analysis, personalized learning recommendations.</a:t>
            </a:r>
            <a:endParaRPr lang="en-US" sz="2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64074" y="7063740"/>
            <a:ext cx="37719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2175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1A9966-FA22-3A26-01B2-7B734C3BAEC7}"/>
              </a:ext>
            </a:extLst>
          </p:cNvPr>
          <p:cNvCxnSpPr>
            <a:cxnSpLocks/>
          </p:cNvCxnSpPr>
          <p:nvPr/>
        </p:nvCxnSpPr>
        <p:spPr>
          <a:xfrm>
            <a:off x="877824" y="3223260"/>
            <a:ext cx="527304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F3E547-717B-A484-C9DB-7FB92DA2777F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8005926" y="1842722"/>
            <a:ext cx="1360210" cy="1360210"/>
          </a:xfrm>
          <a:custGeom>
            <a:avLst/>
            <a:gdLst/>
            <a:ahLst/>
            <a:cxnLst/>
            <a:rect l="l" t="t" r="r" b="b"/>
            <a:pathLst>
              <a:path w="1360210" h="1360210">
                <a:moveTo>
                  <a:pt x="0" y="0"/>
                </a:moveTo>
                <a:lnTo>
                  <a:pt x="1360210" y="0"/>
                </a:lnTo>
                <a:lnTo>
                  <a:pt x="1360210" y="1360209"/>
                </a:lnTo>
                <a:lnTo>
                  <a:pt x="0" y="1360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92679" y="4529729"/>
            <a:ext cx="15758489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51"/>
              </a:lnSpc>
            </a:pPr>
            <a:r>
              <a:rPr lang="en-US" sz="4400" dirty="0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Students often don't know what skills </a:t>
            </a:r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are required for</a:t>
            </a:r>
            <a:r>
              <a:rPr lang="en-US" sz="4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 </a:t>
            </a:r>
            <a:r>
              <a:rPr lang="en-US" sz="4400" dirty="0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different careers actually need. Existing systems give generic advice and don't explain why they suggest what they suggest.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74319" y="3646974"/>
            <a:ext cx="6011134" cy="537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8"/>
              </a:lnSpc>
            </a:pPr>
            <a:r>
              <a:rPr lang="en-US" sz="3155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A1D9DA-9686-7340-C769-DC4F81199659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1028700" y="3585069"/>
            <a:ext cx="3442042" cy="987624"/>
            <a:chOff x="0" y="0"/>
            <a:chExt cx="1416376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16376" cy="406400"/>
            </a:xfrm>
            <a:custGeom>
              <a:avLst/>
              <a:gdLst/>
              <a:ahLst/>
              <a:cxnLst/>
              <a:rect l="l" t="t" r="r" b="b"/>
              <a:pathLst>
                <a:path w="1416376" h="406400">
                  <a:moveTo>
                    <a:pt x="1213176" y="0"/>
                  </a:moveTo>
                  <a:cubicBezTo>
                    <a:pt x="1325400" y="0"/>
                    <a:pt x="1416376" y="90976"/>
                    <a:pt x="1416376" y="203200"/>
                  </a:cubicBezTo>
                  <a:cubicBezTo>
                    <a:pt x="1416376" y="315424"/>
                    <a:pt x="1325400" y="406400"/>
                    <a:pt x="12131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416376" cy="454025"/>
            </a:xfrm>
            <a:prstGeom prst="rect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00206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Collection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405150" y="3469332"/>
            <a:ext cx="3442042" cy="1103361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Preprocessing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632120" y="3585069"/>
            <a:ext cx="3442042" cy="987624"/>
            <a:chOff x="0" y="0"/>
            <a:chExt cx="1416376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16376" cy="406400"/>
            </a:xfrm>
            <a:custGeom>
              <a:avLst/>
              <a:gdLst/>
              <a:ahLst/>
              <a:cxnLst/>
              <a:rect l="l" t="t" r="r" b="b"/>
              <a:pathLst>
                <a:path w="1416376" h="406400">
                  <a:moveTo>
                    <a:pt x="1213176" y="0"/>
                  </a:moveTo>
                  <a:cubicBezTo>
                    <a:pt x="1325400" y="0"/>
                    <a:pt x="1416376" y="90976"/>
                    <a:pt x="1416376" y="203200"/>
                  </a:cubicBezTo>
                  <a:cubicBezTo>
                    <a:pt x="1416376" y="315424"/>
                    <a:pt x="1325400" y="406400"/>
                    <a:pt x="12131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416376" cy="454025"/>
            </a:xfrm>
            <a:prstGeom prst="rect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00206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Feature Selection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947332" y="3490095"/>
            <a:ext cx="3442042" cy="1103361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Splitting</a:t>
            </a:r>
          </a:p>
        </p:txBody>
      </p:sp>
      <p:sp>
        <p:nvSpPr>
          <p:cNvPr id="32" name="AutoShape 32"/>
          <p:cNvSpPr/>
          <p:nvPr/>
        </p:nvSpPr>
        <p:spPr>
          <a:xfrm flipV="1">
            <a:off x="4470742" y="4097913"/>
            <a:ext cx="85725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6" name="AutoShape 36"/>
          <p:cNvSpPr/>
          <p:nvPr/>
        </p:nvSpPr>
        <p:spPr>
          <a:xfrm flipV="1">
            <a:off x="13068685" y="4041776"/>
            <a:ext cx="862728" cy="280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7" name="AutoShape 37"/>
          <p:cNvSpPr/>
          <p:nvPr/>
        </p:nvSpPr>
        <p:spPr>
          <a:xfrm>
            <a:off x="8852669" y="4069843"/>
            <a:ext cx="773974" cy="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8" name="TextBox 38"/>
          <p:cNvSpPr txBox="1"/>
          <p:nvPr/>
        </p:nvSpPr>
        <p:spPr>
          <a:xfrm>
            <a:off x="1028700" y="1379912"/>
            <a:ext cx="9870984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54"/>
              </a:lnSpc>
            </a:pPr>
            <a:r>
              <a:rPr lang="en-US" sz="5467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PROPOSED METHODOLOGY</a:t>
            </a: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BA7D8B35-883B-7DB0-63F9-C001CDAD615F}"/>
              </a:ext>
            </a:extLst>
          </p:cNvPr>
          <p:cNvSpPr txBox="1"/>
          <p:nvPr/>
        </p:nvSpPr>
        <p:spPr>
          <a:xfrm>
            <a:off x="13947332" y="6134100"/>
            <a:ext cx="3442042" cy="1103361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 MODEL</a:t>
            </a:r>
          </a:p>
        </p:txBody>
      </p:sp>
      <p:sp>
        <p:nvSpPr>
          <p:cNvPr id="46" name="AutoShape 35">
            <a:extLst>
              <a:ext uri="{FF2B5EF4-FFF2-40B4-BE49-F238E27FC236}">
                <a16:creationId xmlns:a16="http://schemas.microsoft.com/office/drawing/2014/main" id="{70711262-80E7-7D84-0D1C-C7770816B472}"/>
              </a:ext>
            </a:extLst>
          </p:cNvPr>
          <p:cNvSpPr/>
          <p:nvPr/>
        </p:nvSpPr>
        <p:spPr>
          <a:xfrm>
            <a:off x="15773400" y="4593456"/>
            <a:ext cx="0" cy="14156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180A3F6-EEA7-53FA-04D8-18C994A9D0F9}"/>
              </a:ext>
            </a:extLst>
          </p:cNvPr>
          <p:cNvCxnSpPr>
            <a:cxnSpLocks/>
          </p:cNvCxnSpPr>
          <p:nvPr/>
        </p:nvCxnSpPr>
        <p:spPr>
          <a:xfrm flipV="1">
            <a:off x="1219200" y="2273249"/>
            <a:ext cx="9680484" cy="22727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E3CD77-A432-4A2F-06ED-3D124511F648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8/17</a:t>
            </a:r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4A7ABB67-FFDB-E4EB-374F-B72BF5E46A64}"/>
              </a:ext>
            </a:extLst>
          </p:cNvPr>
          <p:cNvSpPr txBox="1"/>
          <p:nvPr/>
        </p:nvSpPr>
        <p:spPr>
          <a:xfrm>
            <a:off x="9711776" y="6217156"/>
            <a:ext cx="3442042" cy="1103361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OPTIMIZATION</a:t>
            </a:r>
          </a:p>
        </p:txBody>
      </p:sp>
      <p:sp>
        <p:nvSpPr>
          <p:cNvPr id="17" name="TextBox 28">
            <a:extLst>
              <a:ext uri="{FF2B5EF4-FFF2-40B4-BE49-F238E27FC236}">
                <a16:creationId xmlns:a16="http://schemas.microsoft.com/office/drawing/2014/main" id="{ED0A8A30-6DA7-D0BC-18DD-FD41FCE1567E}"/>
              </a:ext>
            </a:extLst>
          </p:cNvPr>
          <p:cNvSpPr txBox="1"/>
          <p:nvPr/>
        </p:nvSpPr>
        <p:spPr>
          <a:xfrm>
            <a:off x="5492604" y="6217156"/>
            <a:ext cx="3442042" cy="1103361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PREDICTION</a:t>
            </a:r>
          </a:p>
        </p:txBody>
      </p:sp>
      <p:sp>
        <p:nvSpPr>
          <p:cNvPr id="20" name="AutoShape 37">
            <a:extLst>
              <a:ext uri="{FF2B5EF4-FFF2-40B4-BE49-F238E27FC236}">
                <a16:creationId xmlns:a16="http://schemas.microsoft.com/office/drawing/2014/main" id="{A563349D-475C-26CB-2C83-CC1CCF00D02E}"/>
              </a:ext>
            </a:extLst>
          </p:cNvPr>
          <p:cNvSpPr/>
          <p:nvPr/>
        </p:nvSpPr>
        <p:spPr>
          <a:xfrm flipH="1">
            <a:off x="8954423" y="6768836"/>
            <a:ext cx="76167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3" name="AutoShape 37">
            <a:extLst>
              <a:ext uri="{FF2B5EF4-FFF2-40B4-BE49-F238E27FC236}">
                <a16:creationId xmlns:a16="http://schemas.microsoft.com/office/drawing/2014/main" id="{9B576E61-0E5C-7D5E-6A24-2A656520CE28}"/>
              </a:ext>
            </a:extLst>
          </p:cNvPr>
          <p:cNvSpPr/>
          <p:nvPr/>
        </p:nvSpPr>
        <p:spPr>
          <a:xfrm flipH="1">
            <a:off x="13169737" y="6685780"/>
            <a:ext cx="76167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F6D2C-5BFF-804E-A025-13AB13D1E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48D44CA-35F8-6D88-4700-CE9BCA343CF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6F52CC71-87E2-3D0D-A581-718767EB637A}"/>
              </a:ext>
            </a:extLst>
          </p:cNvPr>
          <p:cNvSpPr txBox="1"/>
          <p:nvPr/>
        </p:nvSpPr>
        <p:spPr>
          <a:xfrm>
            <a:off x="1066800" y="1485900"/>
            <a:ext cx="7467600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54"/>
              </a:lnSpc>
            </a:pPr>
            <a:r>
              <a:rPr lang="en-US" sz="4000" b="1" dirty="0">
                <a:solidFill>
                  <a:srgbClr val="0C3571"/>
                </a:solidFill>
                <a:latin typeface="Times New Roman" panose="02020603050405020304" pitchFamily="18" charset="0"/>
                <a:ea typeface="Anantason Bold"/>
                <a:cs typeface="Times New Roman" panose="02020603050405020304" pitchFamily="18" charset="0"/>
                <a:sym typeface="Anantason Bold"/>
              </a:rPr>
              <a:t>DATA</a:t>
            </a:r>
            <a:r>
              <a:rPr lang="en-US" sz="40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</a:t>
            </a:r>
            <a:r>
              <a:rPr lang="en-US" sz="4000" b="1" dirty="0">
                <a:solidFill>
                  <a:srgbClr val="0C3571"/>
                </a:solidFill>
                <a:latin typeface="Times New Roman" panose="02020603050405020304" pitchFamily="18" charset="0"/>
                <a:ea typeface="Anantason Bold"/>
                <a:cs typeface="Times New Roman" panose="02020603050405020304" pitchFamily="18" charset="0"/>
                <a:sym typeface="Anantason Bold"/>
              </a:rPr>
              <a:t>COLLECTION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7E06319-C399-3A87-AA2B-9DB331B666A7}"/>
              </a:ext>
            </a:extLst>
          </p:cNvPr>
          <p:cNvCxnSpPr>
            <a:cxnSpLocks/>
          </p:cNvCxnSpPr>
          <p:nvPr/>
        </p:nvCxnSpPr>
        <p:spPr>
          <a:xfrm>
            <a:off x="1066800" y="2380376"/>
            <a:ext cx="54864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0AD504-4534-15CD-1F88-D1533A7A5305}"/>
              </a:ext>
            </a:extLst>
          </p:cNvPr>
          <p:cNvSpPr txBox="1"/>
          <p:nvPr/>
        </p:nvSpPr>
        <p:spPr>
          <a:xfrm>
            <a:off x="1066800" y="3111500"/>
            <a:ext cx="5638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information about: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information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Careers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career skills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4B46C-81CE-5EF1-8ADB-F43E72999A5F}"/>
              </a:ext>
            </a:extLst>
          </p:cNvPr>
          <p:cNvSpPr txBox="1"/>
          <p:nvPr/>
        </p:nvSpPr>
        <p:spPr>
          <a:xfrm>
            <a:off x="10591800" y="1714500"/>
            <a:ext cx="4621383" cy="81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PREPROCESSING</a:t>
            </a:r>
          </a:p>
          <a:p>
            <a:endParaRPr lang="en-US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9980C3-E542-AD46-9A4B-4CDCBD9EA240}"/>
              </a:ext>
            </a:extLst>
          </p:cNvPr>
          <p:cNvCxnSpPr>
            <a:cxnSpLocks/>
          </p:cNvCxnSpPr>
          <p:nvPr/>
        </p:nvCxnSpPr>
        <p:spPr>
          <a:xfrm>
            <a:off x="10744200" y="2335052"/>
            <a:ext cx="47244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ED9A18C-EB66-5093-B220-CD39D8404CBC}"/>
              </a:ext>
            </a:extLst>
          </p:cNvPr>
          <p:cNvSpPr txBox="1"/>
          <p:nvPr/>
        </p:nvSpPr>
        <p:spPr>
          <a:xfrm>
            <a:off x="10744200" y="3098800"/>
            <a:ext cx="5791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the collected data.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records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text into usable formats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EF383A-B84A-54CD-019D-FB422A300478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9/17</a:t>
            </a:r>
          </a:p>
        </p:txBody>
      </p:sp>
    </p:spTree>
    <p:extLst>
      <p:ext uri="{BB962C8B-B14F-4D97-AF65-F5344CB8AC3E}">
        <p14:creationId xmlns:p14="http://schemas.microsoft.com/office/powerpoint/2010/main" val="3727528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42DC-9DC6-7728-F5C0-9E523348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54AD423-1B1A-4D5D-CDEC-FC84493EB60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EA00891-19F7-738D-C75D-77D4774DD2C6}"/>
              </a:ext>
            </a:extLst>
          </p:cNvPr>
          <p:cNvSpPr txBox="1"/>
          <p:nvPr/>
        </p:nvSpPr>
        <p:spPr>
          <a:xfrm>
            <a:off x="914400" y="1791487"/>
            <a:ext cx="5257800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Feature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Selection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3D47DBE-50CA-B4FD-1609-6BEF7FC9EDA3}"/>
              </a:ext>
            </a:extLst>
          </p:cNvPr>
          <p:cNvCxnSpPr>
            <a:cxnSpLocks/>
          </p:cNvCxnSpPr>
          <p:nvPr/>
        </p:nvCxnSpPr>
        <p:spPr>
          <a:xfrm>
            <a:off x="1066800" y="2381810"/>
            <a:ext cx="54864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74697E2-5D05-151C-9FE5-6EC25F9320B8}"/>
              </a:ext>
            </a:extLst>
          </p:cNvPr>
          <p:cNvSpPr txBox="1"/>
          <p:nvPr/>
        </p:nvSpPr>
        <p:spPr>
          <a:xfrm>
            <a:off x="1066800" y="3111500"/>
            <a:ext cx="5638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select useful features from the raw data.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programming skills, interest in AI, projects, etc.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features are given to the machine-learning model.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4FBA5-AAA9-204A-4A86-3D325BB56AAB}"/>
              </a:ext>
            </a:extLst>
          </p:cNvPr>
          <p:cNvSpPr txBox="1"/>
          <p:nvPr/>
        </p:nvSpPr>
        <p:spPr>
          <a:xfrm>
            <a:off x="9486902" y="1791487"/>
            <a:ext cx="4495800" cy="81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Splitting</a:t>
            </a:r>
          </a:p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A0D243-32AA-46B5-EA56-81FFA85ADF1E}"/>
              </a:ext>
            </a:extLst>
          </p:cNvPr>
          <p:cNvCxnSpPr>
            <a:cxnSpLocks/>
          </p:cNvCxnSpPr>
          <p:nvPr/>
        </p:nvCxnSpPr>
        <p:spPr>
          <a:xfrm>
            <a:off x="9702802" y="2381810"/>
            <a:ext cx="47244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B637803-8196-C894-E67A-F9ADE3FCDD21}"/>
              </a:ext>
            </a:extLst>
          </p:cNvPr>
          <p:cNvSpPr txBox="1"/>
          <p:nvPr/>
        </p:nvSpPr>
        <p:spPr>
          <a:xfrm>
            <a:off x="9702804" y="3111500"/>
            <a:ext cx="6858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divided into: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(80%)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 (20%)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data (5-fold cross validation)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65FE12-645B-FF52-FD81-55228BD9E803}"/>
              </a:ext>
            </a:extLst>
          </p:cNvPr>
          <p:cNvSpPr txBox="1"/>
          <p:nvPr/>
        </p:nvSpPr>
        <p:spPr>
          <a:xfrm>
            <a:off x="16992600" y="948690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10/17</a:t>
            </a:r>
          </a:p>
        </p:txBody>
      </p:sp>
    </p:spTree>
    <p:extLst>
      <p:ext uri="{BB962C8B-B14F-4D97-AF65-F5344CB8AC3E}">
        <p14:creationId xmlns:p14="http://schemas.microsoft.com/office/powerpoint/2010/main" val="809762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6A8BF-9C92-646B-AEE2-18F37F30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E2B293-C37E-E966-4249-F09991673E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BD6A04D-6563-D938-D04D-5F76A8A785C4}"/>
              </a:ext>
            </a:extLst>
          </p:cNvPr>
          <p:cNvSpPr txBox="1"/>
          <p:nvPr/>
        </p:nvSpPr>
        <p:spPr>
          <a:xfrm>
            <a:off x="838200" y="1485900"/>
            <a:ext cx="5257800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Model Selection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57818B9-1A10-12EB-52AC-7CBF6E26835D}"/>
              </a:ext>
            </a:extLst>
          </p:cNvPr>
          <p:cNvCxnSpPr>
            <a:cxnSpLocks/>
          </p:cNvCxnSpPr>
          <p:nvPr/>
        </p:nvCxnSpPr>
        <p:spPr>
          <a:xfrm>
            <a:off x="838200" y="2082699"/>
            <a:ext cx="38862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5F2AA9-263D-1C9F-E1F0-FC1E40481EE4}"/>
              </a:ext>
            </a:extLst>
          </p:cNvPr>
          <p:cNvSpPr txBox="1"/>
          <p:nvPr/>
        </p:nvSpPr>
        <p:spPr>
          <a:xfrm>
            <a:off x="838200" y="2558389"/>
            <a:ext cx="563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I’ll be using will be a CNN (Convolutional Neural Network)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7BEC38-13EE-E8F3-803A-612038C47685}"/>
              </a:ext>
            </a:extLst>
          </p:cNvPr>
          <p:cNvSpPr txBox="1"/>
          <p:nvPr/>
        </p:nvSpPr>
        <p:spPr>
          <a:xfrm>
            <a:off x="16992600" y="94869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11/17</a:t>
            </a:r>
          </a:p>
        </p:txBody>
      </p:sp>
      <p:sp>
        <p:nvSpPr>
          <p:cNvPr id="2" name="TextBox 38">
            <a:extLst>
              <a:ext uri="{FF2B5EF4-FFF2-40B4-BE49-F238E27FC236}">
                <a16:creationId xmlns:a16="http://schemas.microsoft.com/office/drawing/2014/main" id="{13CB5DB6-88AF-2AA9-883E-D249A702378C}"/>
              </a:ext>
            </a:extLst>
          </p:cNvPr>
          <p:cNvSpPr txBox="1"/>
          <p:nvPr/>
        </p:nvSpPr>
        <p:spPr>
          <a:xfrm>
            <a:off x="10934702" y="1478666"/>
            <a:ext cx="525780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OPTIMIZATION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A6AC6F-0A33-C876-39F8-B52F520AE379}"/>
              </a:ext>
            </a:extLst>
          </p:cNvPr>
          <p:cNvCxnSpPr>
            <a:cxnSpLocks/>
          </p:cNvCxnSpPr>
          <p:nvPr/>
        </p:nvCxnSpPr>
        <p:spPr>
          <a:xfrm>
            <a:off x="10934702" y="2075465"/>
            <a:ext cx="38862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56CE816-DD32-A41F-6B4F-74B7EF2B5E99}"/>
              </a:ext>
            </a:extLst>
          </p:cNvPr>
          <p:cNvSpPr txBox="1"/>
          <p:nvPr/>
        </p:nvSpPr>
        <p:spPr>
          <a:xfrm>
            <a:off x="10934702" y="2551155"/>
            <a:ext cx="5638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optimization if the model needs improvement ,we tune its parameters .It improves performance and reduce overfitting.</a:t>
            </a:r>
          </a:p>
        </p:txBody>
      </p:sp>
      <p:sp>
        <p:nvSpPr>
          <p:cNvPr id="14" name="TextBox 38">
            <a:extLst>
              <a:ext uri="{FF2B5EF4-FFF2-40B4-BE49-F238E27FC236}">
                <a16:creationId xmlns:a16="http://schemas.microsoft.com/office/drawing/2014/main" id="{EA26362D-E958-B21A-84D5-4B86C20236DB}"/>
              </a:ext>
            </a:extLst>
          </p:cNvPr>
          <p:cNvSpPr txBox="1"/>
          <p:nvPr/>
        </p:nvSpPr>
        <p:spPr>
          <a:xfrm>
            <a:off x="822767" y="5295900"/>
            <a:ext cx="525780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PREDICTION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EF3139A-6109-2816-0189-C9FA6352EAF3}"/>
              </a:ext>
            </a:extLst>
          </p:cNvPr>
          <p:cNvCxnSpPr>
            <a:cxnSpLocks/>
          </p:cNvCxnSpPr>
          <p:nvPr/>
        </p:nvCxnSpPr>
        <p:spPr>
          <a:xfrm>
            <a:off x="822767" y="5892699"/>
            <a:ext cx="38862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C7A6454-776D-A495-6852-957C67228129}"/>
              </a:ext>
            </a:extLst>
          </p:cNvPr>
          <p:cNvSpPr txBox="1"/>
          <p:nvPr/>
        </p:nvSpPr>
        <p:spPr>
          <a:xfrm>
            <a:off x="822767" y="6260517"/>
            <a:ext cx="64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/>
              <a:t>Ater selecting the best model, we save it and use it for new student .After prediction is then passed to the next module </a:t>
            </a:r>
          </a:p>
        </p:txBody>
      </p:sp>
    </p:spTree>
    <p:extLst>
      <p:ext uri="{BB962C8B-B14F-4D97-AF65-F5344CB8AC3E}">
        <p14:creationId xmlns:p14="http://schemas.microsoft.com/office/powerpoint/2010/main" val="353386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6A8BF-9C92-646B-AEE2-18F37F30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E2B293-C37E-E966-4249-F09991673E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BD6A04D-6563-D938-D04D-5F76A8A785C4}"/>
              </a:ext>
            </a:extLst>
          </p:cNvPr>
          <p:cNvSpPr txBox="1"/>
          <p:nvPr/>
        </p:nvSpPr>
        <p:spPr>
          <a:xfrm>
            <a:off x="838200" y="1485900"/>
            <a:ext cx="9000000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Dataset Overview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57818B9-1A10-12EB-52AC-7CBF6E26835D}"/>
              </a:ext>
            </a:extLst>
          </p:cNvPr>
          <p:cNvCxnSpPr>
            <a:cxnSpLocks/>
          </p:cNvCxnSpPr>
          <p:nvPr/>
        </p:nvCxnSpPr>
        <p:spPr>
          <a:xfrm>
            <a:off x="838200" y="2082699"/>
            <a:ext cx="43000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1" name="Stat card"/>
          <p:cNvSpPr/>
          <p:nvPr/>
        </p:nvSpPr>
        <p:spPr>
          <a:xfrm>
            <a:off x="838200" y="2750000"/>
            <a:ext cx="38679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2" name="Stat value"/>
          <p:cNvSpPr txBox="1"/>
          <p:nvPr/>
        </p:nvSpPr>
        <p:spPr>
          <a:xfrm>
            <a:off x="1138200" y="2880000"/>
            <a:ext cx="3267900" cy="9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 i="0" dirty="0">
                <a:solidFill>
                  <a:srgbClr val="1E2761"/>
                </a:solidFill>
                <a:latin typeface="Calibri"/>
                <a:cs typeface="Calibri"/>
              </a:rPr>
              <a:t>1,016</a:t>
            </a:r>
          </a:p>
        </p:txBody>
      </p:sp>
      <p:sp>
        <p:nvSpPr>
          <p:cNvPr id="103" name="Stat label"/>
          <p:cNvSpPr txBox="1"/>
          <p:nvPr/>
        </p:nvSpPr>
        <p:spPr>
          <a:xfrm>
            <a:off x="1138200" y="38800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Careers (rows)</a:t>
            </a:r>
          </a:p>
        </p:txBody>
      </p:sp>
      <p:sp>
        <p:nvSpPr>
          <p:cNvPr id="104" name="Stat card"/>
          <p:cNvSpPr/>
          <p:nvPr/>
        </p:nvSpPr>
        <p:spPr>
          <a:xfrm>
            <a:off x="5086100" y="2750000"/>
            <a:ext cx="38679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5" name="Stat value"/>
          <p:cNvSpPr txBox="1"/>
          <p:nvPr/>
        </p:nvSpPr>
        <p:spPr>
          <a:xfrm>
            <a:off x="5386100" y="2880000"/>
            <a:ext cx="3267900" cy="9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 i="0" dirty="0">
                <a:solidFill>
                  <a:srgbClr val="1E2761"/>
                </a:solidFill>
                <a:latin typeface="Calibri"/>
                <a:cs typeface="Calibri"/>
              </a:rPr>
              <a:t>23</a:t>
            </a:r>
          </a:p>
        </p:txBody>
      </p:sp>
      <p:sp>
        <p:nvSpPr>
          <p:cNvPr id="106" name="Stat label"/>
          <p:cNvSpPr txBox="1"/>
          <p:nvPr/>
        </p:nvSpPr>
        <p:spPr>
          <a:xfrm>
            <a:off x="5386100" y="38800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Data columns</a:t>
            </a:r>
          </a:p>
        </p:txBody>
      </p:sp>
      <p:sp>
        <p:nvSpPr>
          <p:cNvPr id="107" name="Stat card"/>
          <p:cNvSpPr/>
          <p:nvPr/>
        </p:nvSpPr>
        <p:spPr>
          <a:xfrm>
            <a:off x="9334000" y="2750000"/>
            <a:ext cx="38679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8" name="Stat value"/>
          <p:cNvSpPr txBox="1"/>
          <p:nvPr/>
        </p:nvSpPr>
        <p:spPr>
          <a:xfrm>
            <a:off x="9634000" y="2880000"/>
            <a:ext cx="3267900" cy="9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 i="0" dirty="0">
                <a:solidFill>
                  <a:srgbClr val="1E2761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09" name="Stat label"/>
          <p:cNvSpPr txBox="1"/>
          <p:nvPr/>
        </p:nvSpPr>
        <p:spPr>
          <a:xfrm>
            <a:off x="9634000" y="38800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Job zones (2 to 5)</a:t>
            </a:r>
          </a:p>
        </p:txBody>
      </p:sp>
      <p:sp>
        <p:nvSpPr>
          <p:cNvPr id="110" name="Stat card"/>
          <p:cNvSpPr/>
          <p:nvPr/>
        </p:nvSpPr>
        <p:spPr>
          <a:xfrm>
            <a:off x="13581900" y="2750000"/>
            <a:ext cx="38679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1" name="Stat value"/>
          <p:cNvSpPr txBox="1"/>
          <p:nvPr/>
        </p:nvSpPr>
        <p:spPr>
          <a:xfrm>
            <a:off x="13881900" y="2880000"/>
            <a:ext cx="3267900" cy="9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 i="0" dirty="0">
                <a:solidFill>
                  <a:srgbClr val="1E2761"/>
                </a:solidFill>
                <a:latin typeface="Calibri"/>
                <a:cs typeface="Calibri"/>
              </a:rPr>
              <a:t>90%</a:t>
            </a:r>
          </a:p>
        </p:txBody>
      </p:sp>
      <p:sp>
        <p:nvSpPr>
          <p:cNvPr id="112" name="Stat label"/>
          <p:cNvSpPr txBox="1"/>
          <p:nvPr/>
        </p:nvSpPr>
        <p:spPr>
          <a:xfrm>
            <a:off x="13881900" y="38800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Avg. data completeness</a:t>
            </a:r>
          </a:p>
        </p:txBody>
      </p:sp>
      <p:sp>
        <p:nvSpPr>
          <p:cNvPr id="113" name="Fields card"/>
          <p:cNvSpPr/>
          <p:nvPr/>
        </p:nvSpPr>
        <p:spPr>
          <a:xfrm>
            <a:off x="838200" y="4950000"/>
            <a:ext cx="7400000" cy="4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4" name="Fields heading"/>
          <p:cNvSpPr txBox="1"/>
          <p:nvPr/>
        </p:nvSpPr>
        <p:spPr>
          <a:xfrm>
            <a:off x="1188200" y="5230000"/>
            <a:ext cx="67000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What each record holds</a:t>
            </a:r>
          </a:p>
        </p:txBody>
      </p:sp>
      <p:sp>
        <p:nvSpPr>
          <p:cNvPr id="115" name="Fields list"/>
          <p:cNvSpPr txBox="1"/>
          <p:nvPr/>
        </p:nvSpPr>
        <p:spPr>
          <a:xfrm>
            <a:off x="1188200" y="5950000"/>
            <a:ext cx="6700000" cy="2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1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600" b="0" i="0" dirty="0">
                <a:solidFill>
                  <a:srgbClr val="222222"/>
                </a:solidFill>
                <a:latin typeface="Times New Roman"/>
                <a:cs typeface="Times New Roman"/>
              </a:rPr>
              <a:t>Career title and description</a:t>
            </a:r>
          </a:p>
          <a:p>
            <a:pPr marL="342900" indent="-342900" algn="l">
              <a:spcBef>
                <a:spcPts val="0"/>
              </a:spcBef>
              <a:spcAft>
                <a:spcPts val="1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600" b="0" i="0" dirty="0">
                <a:solidFill>
                  <a:srgbClr val="222222"/>
                </a:solidFill>
                <a:latin typeface="Times New Roman"/>
                <a:cs typeface="Times New Roman"/>
              </a:rPr>
              <a:t>Essential skills with importance scores</a:t>
            </a:r>
          </a:p>
          <a:p>
            <a:pPr marL="342900" indent="-342900" algn="l">
              <a:spcBef>
                <a:spcPts val="0"/>
              </a:spcBef>
              <a:spcAft>
                <a:spcPts val="1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600" b="0" i="0" dirty="0">
                <a:solidFill>
                  <a:srgbClr val="222222"/>
                </a:solidFill>
                <a:latin typeface="Times New Roman"/>
                <a:cs typeface="Times New Roman"/>
              </a:rPr>
              <a:t>Software and hot technologies</a:t>
            </a:r>
          </a:p>
          <a:p>
            <a:pPr marL="342900" indent="-342900" algn="l">
              <a:spcBef>
                <a:spcPts val="0"/>
              </a:spcBef>
              <a:spcAft>
                <a:spcPts val="1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600" b="0" i="0" dirty="0">
                <a:solidFill>
                  <a:srgbClr val="222222"/>
                </a:solidFill>
                <a:latin typeface="Times New Roman"/>
                <a:cs typeface="Times New Roman"/>
              </a:rPr>
              <a:t>SOC code and Job Zone label</a:t>
            </a:r>
          </a:p>
          <a:p>
            <a:pPr marL="342900" indent="-342900" algn="l">
              <a:spcBef>
                <a:spcPts val="0"/>
              </a:spcBef>
              <a:spcAft>
                <a:spcPts val="1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600" b="0" i="0" dirty="0">
                <a:solidFill>
                  <a:srgbClr val="222222"/>
                </a:solidFill>
                <a:latin typeface="Times New Roman"/>
                <a:cs typeface="Times New Roman"/>
              </a:rPr>
              <a:t>Data completeness per career</a:t>
            </a:r>
          </a:p>
        </p:txBody>
      </p:sp>
      <p:sp>
        <p:nvSpPr>
          <p:cNvPr id="116" name="Distribution card"/>
          <p:cNvSpPr/>
          <p:nvPr/>
        </p:nvSpPr>
        <p:spPr>
          <a:xfrm>
            <a:off x="8618200" y="4950000"/>
            <a:ext cx="8831600" cy="4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7" name="Distribution heading"/>
          <p:cNvSpPr txBox="1"/>
          <p:nvPr/>
        </p:nvSpPr>
        <p:spPr>
          <a:xfrm>
            <a:off x="8968200" y="5230000"/>
            <a:ext cx="81316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Careers per job zone</a:t>
            </a:r>
          </a:p>
        </p:txBody>
      </p:sp>
      <p:sp>
        <p:nvSpPr>
          <p:cNvPr id="118" name="Bar label"/>
          <p:cNvSpPr txBox="1"/>
          <p:nvPr/>
        </p:nvSpPr>
        <p:spPr>
          <a:xfrm>
            <a:off x="8968200" y="6000000"/>
            <a:ext cx="1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Zone 2</a:t>
            </a:r>
          </a:p>
        </p:txBody>
      </p:sp>
      <p:sp>
        <p:nvSpPr>
          <p:cNvPr id="119" name="Bar track"/>
          <p:cNvSpPr/>
          <p:nvPr/>
        </p:nvSpPr>
        <p:spPr>
          <a:xfrm>
            <a:off x="10318200" y="6000000"/>
            <a:ext cx="5350000" cy="48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20" name="Bar"/>
          <p:cNvSpPr/>
          <p:nvPr/>
        </p:nvSpPr>
        <p:spPr>
          <a:xfrm>
            <a:off x="10318200" y="6000000"/>
            <a:ext cx="5350000" cy="48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21" name="Bar value"/>
          <p:cNvSpPr txBox="1"/>
          <p:nvPr/>
        </p:nvSpPr>
        <p:spPr>
          <a:xfrm>
            <a:off x="15788200" y="6000000"/>
            <a:ext cx="90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337</a:t>
            </a:r>
          </a:p>
        </p:txBody>
      </p:sp>
      <p:sp>
        <p:nvSpPr>
          <p:cNvPr id="122" name="Bar label"/>
          <p:cNvSpPr txBox="1"/>
          <p:nvPr/>
        </p:nvSpPr>
        <p:spPr>
          <a:xfrm>
            <a:off x="8968200" y="6670000"/>
            <a:ext cx="1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Zone 3</a:t>
            </a:r>
          </a:p>
        </p:txBody>
      </p:sp>
      <p:sp>
        <p:nvSpPr>
          <p:cNvPr id="123" name="Bar track"/>
          <p:cNvSpPr/>
          <p:nvPr/>
        </p:nvSpPr>
        <p:spPr>
          <a:xfrm>
            <a:off x="10318200" y="6670000"/>
            <a:ext cx="5350000" cy="48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24" name="Bar"/>
          <p:cNvSpPr/>
          <p:nvPr/>
        </p:nvSpPr>
        <p:spPr>
          <a:xfrm>
            <a:off x="10318200" y="6670000"/>
            <a:ext cx="3365578" cy="48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25" name="Bar value"/>
          <p:cNvSpPr txBox="1"/>
          <p:nvPr/>
        </p:nvSpPr>
        <p:spPr>
          <a:xfrm>
            <a:off x="15788200" y="6670000"/>
            <a:ext cx="90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212</a:t>
            </a:r>
          </a:p>
        </p:txBody>
      </p:sp>
      <p:sp>
        <p:nvSpPr>
          <p:cNvPr id="126" name="Bar label"/>
          <p:cNvSpPr txBox="1"/>
          <p:nvPr/>
        </p:nvSpPr>
        <p:spPr>
          <a:xfrm>
            <a:off x="8968200" y="7340000"/>
            <a:ext cx="1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Zone 4</a:t>
            </a:r>
          </a:p>
        </p:txBody>
      </p:sp>
      <p:sp>
        <p:nvSpPr>
          <p:cNvPr id="127" name="Bar track"/>
          <p:cNvSpPr/>
          <p:nvPr/>
        </p:nvSpPr>
        <p:spPr>
          <a:xfrm>
            <a:off x="10318200" y="7340000"/>
            <a:ext cx="5350000" cy="48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28" name="Bar"/>
          <p:cNvSpPr/>
          <p:nvPr/>
        </p:nvSpPr>
        <p:spPr>
          <a:xfrm>
            <a:off x="10318200" y="7340000"/>
            <a:ext cx="3587833" cy="48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29" name="Bar value"/>
          <p:cNvSpPr txBox="1"/>
          <p:nvPr/>
        </p:nvSpPr>
        <p:spPr>
          <a:xfrm>
            <a:off x="15788200" y="7340000"/>
            <a:ext cx="90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226</a:t>
            </a:r>
          </a:p>
        </p:txBody>
      </p:sp>
      <p:sp>
        <p:nvSpPr>
          <p:cNvPr id="130" name="Bar label"/>
          <p:cNvSpPr txBox="1"/>
          <p:nvPr/>
        </p:nvSpPr>
        <p:spPr>
          <a:xfrm>
            <a:off x="8968200" y="8010000"/>
            <a:ext cx="1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Zone 5</a:t>
            </a:r>
          </a:p>
        </p:txBody>
      </p:sp>
      <p:sp>
        <p:nvSpPr>
          <p:cNvPr id="131" name="Bar track"/>
          <p:cNvSpPr/>
          <p:nvPr/>
        </p:nvSpPr>
        <p:spPr>
          <a:xfrm>
            <a:off x="10318200" y="8010000"/>
            <a:ext cx="5350000" cy="48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32" name="Bar"/>
          <p:cNvSpPr/>
          <p:nvPr/>
        </p:nvSpPr>
        <p:spPr>
          <a:xfrm>
            <a:off x="10318200" y="8010000"/>
            <a:ext cx="3825964" cy="48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33" name="Bar value"/>
          <p:cNvSpPr txBox="1"/>
          <p:nvPr/>
        </p:nvSpPr>
        <p:spPr>
          <a:xfrm>
            <a:off x="15788200" y="8010000"/>
            <a:ext cx="90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241</a:t>
            </a:r>
          </a:p>
        </p:txBody>
      </p:sp>
      <p:sp>
        <p:nvSpPr>
          <p:cNvPr id="134" name="Distribution note"/>
          <p:cNvSpPr txBox="1"/>
          <p:nvPr/>
        </p:nvSpPr>
        <p:spPr>
          <a:xfrm>
            <a:off x="8968200" y="8650000"/>
            <a:ext cx="8131600" cy="3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44546A"/>
                </a:solidFill>
                <a:latin typeface="Calibri"/>
                <a:cs typeface="Calibri"/>
              </a:rPr>
              <a:t>923 zones known, 93 filled by earlier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7BEC38-13EE-E8F3-803A-612038C47685}"/>
              </a:ext>
            </a:extLst>
          </p:cNvPr>
          <p:cNvSpPr txBox="1"/>
          <p:nvPr/>
        </p:nvSpPr>
        <p:spPr>
          <a:xfrm>
            <a:off x="16992600" y="94869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12/17</a:t>
            </a:r>
          </a:p>
        </p:txBody>
      </p:sp>
    </p:spTree>
    <p:extLst>
      <p:ext uri="{BB962C8B-B14F-4D97-AF65-F5344CB8AC3E}">
        <p14:creationId xmlns:p14="http://schemas.microsoft.com/office/powerpoint/2010/main" val="3533860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6A8BF-9C92-646B-AEE2-18F37F30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E2B293-C37E-E966-4249-F09991673E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BD6A04D-6563-D938-D04D-5F76A8A785C4}"/>
              </a:ext>
            </a:extLst>
          </p:cNvPr>
          <p:cNvSpPr txBox="1"/>
          <p:nvPr/>
        </p:nvSpPr>
        <p:spPr>
          <a:xfrm>
            <a:off x="838200" y="1485900"/>
            <a:ext cx="9000000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Model Training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57818B9-1A10-12EB-52AC-7CBF6E26835D}"/>
              </a:ext>
            </a:extLst>
          </p:cNvPr>
          <p:cNvCxnSpPr>
            <a:cxnSpLocks/>
          </p:cNvCxnSpPr>
          <p:nvPr/>
        </p:nvCxnSpPr>
        <p:spPr>
          <a:xfrm>
            <a:off x="838200" y="2082699"/>
            <a:ext cx="38000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6" name="Step card"/>
          <p:cNvSpPr/>
          <p:nvPr/>
        </p:nvSpPr>
        <p:spPr>
          <a:xfrm>
            <a:off x="838200" y="2750000"/>
            <a:ext cx="3867900" cy="2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7" name="Step number"/>
          <p:cNvSpPr/>
          <p:nvPr/>
        </p:nvSpPr>
        <p:spPr>
          <a:xfrm>
            <a:off x="1138200" y="301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38" name="Step title"/>
          <p:cNvSpPr txBox="1"/>
          <p:nvPr/>
        </p:nvSpPr>
        <p:spPr>
          <a:xfrm>
            <a:off x="1138200" y="38300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Load data</a:t>
            </a:r>
          </a:p>
        </p:txBody>
      </p:sp>
      <p:sp>
        <p:nvSpPr>
          <p:cNvPr id="139" name="Step detail"/>
          <p:cNvSpPr txBox="1"/>
          <p:nvPr/>
        </p:nvSpPr>
        <p:spPr>
          <a:xfrm>
            <a:off x="1138200" y="4370000"/>
            <a:ext cx="3267900" cy="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1,016 careers, 19 columns</a:t>
            </a:r>
          </a:p>
        </p:txBody>
      </p:sp>
      <p:sp>
        <p:nvSpPr>
          <p:cNvPr id="140" name="Step arrow"/>
          <p:cNvSpPr/>
          <p:nvPr/>
        </p:nvSpPr>
        <p:spPr>
          <a:xfrm>
            <a:off x="4766100" y="3875000"/>
            <a:ext cx="260000" cy="30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</p:sp>
      <p:sp>
        <p:nvSpPr>
          <p:cNvPr id="141" name="Step card"/>
          <p:cNvSpPr/>
          <p:nvPr/>
        </p:nvSpPr>
        <p:spPr>
          <a:xfrm>
            <a:off x="5086100" y="2750000"/>
            <a:ext cx="3867900" cy="2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2" name="Step number"/>
          <p:cNvSpPr/>
          <p:nvPr/>
        </p:nvSpPr>
        <p:spPr>
          <a:xfrm>
            <a:off x="5386100" y="301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3" name="Step title"/>
          <p:cNvSpPr txBox="1"/>
          <p:nvPr/>
        </p:nvSpPr>
        <p:spPr>
          <a:xfrm>
            <a:off x="5386100" y="38300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Select features</a:t>
            </a:r>
          </a:p>
        </p:txBody>
      </p:sp>
      <p:sp>
        <p:nvSpPr>
          <p:cNvPr id="144" name="Step detail"/>
          <p:cNvSpPr txBox="1"/>
          <p:nvPr/>
        </p:nvSpPr>
        <p:spPr>
          <a:xfrm>
            <a:off x="5386100" y="4370000"/>
            <a:ext cx="3267900" cy="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11 numeric skill, technology and zone signals</a:t>
            </a:r>
          </a:p>
        </p:txBody>
      </p:sp>
      <p:sp>
        <p:nvSpPr>
          <p:cNvPr id="145" name="Step arrow"/>
          <p:cNvSpPr/>
          <p:nvPr/>
        </p:nvSpPr>
        <p:spPr>
          <a:xfrm>
            <a:off x="9014000" y="3875000"/>
            <a:ext cx="260000" cy="30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</p:sp>
      <p:sp>
        <p:nvSpPr>
          <p:cNvPr id="146" name="Step card"/>
          <p:cNvSpPr/>
          <p:nvPr/>
        </p:nvSpPr>
        <p:spPr>
          <a:xfrm>
            <a:off x="9334000" y="2750000"/>
            <a:ext cx="3867900" cy="2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7" name="Step number"/>
          <p:cNvSpPr/>
          <p:nvPr/>
        </p:nvSpPr>
        <p:spPr>
          <a:xfrm>
            <a:off x="9634000" y="301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48" name="Step title"/>
          <p:cNvSpPr txBox="1"/>
          <p:nvPr/>
        </p:nvSpPr>
        <p:spPr>
          <a:xfrm>
            <a:off x="9634000" y="38300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Split 80 / 20</a:t>
            </a:r>
          </a:p>
        </p:txBody>
      </p:sp>
      <p:sp>
        <p:nvSpPr>
          <p:cNvPr id="149" name="Step detail"/>
          <p:cNvSpPr txBox="1"/>
          <p:nvPr/>
        </p:nvSpPr>
        <p:spPr>
          <a:xfrm>
            <a:off x="9634000" y="4370000"/>
            <a:ext cx="3267900" cy="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738 training and 185 test rows, stratified</a:t>
            </a:r>
          </a:p>
        </p:txBody>
      </p:sp>
      <p:sp>
        <p:nvSpPr>
          <p:cNvPr id="150" name="Step arrow"/>
          <p:cNvSpPr/>
          <p:nvPr/>
        </p:nvSpPr>
        <p:spPr>
          <a:xfrm>
            <a:off x="13261900" y="3875000"/>
            <a:ext cx="260000" cy="30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</p:sp>
      <p:sp>
        <p:nvSpPr>
          <p:cNvPr id="151" name="Step card"/>
          <p:cNvSpPr/>
          <p:nvPr/>
        </p:nvSpPr>
        <p:spPr>
          <a:xfrm>
            <a:off x="13581900" y="2750000"/>
            <a:ext cx="3867900" cy="2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2" name="Step number"/>
          <p:cNvSpPr/>
          <p:nvPr/>
        </p:nvSpPr>
        <p:spPr>
          <a:xfrm>
            <a:off x="13881900" y="301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53" name="Step title"/>
          <p:cNvSpPr txBox="1"/>
          <p:nvPr/>
        </p:nvSpPr>
        <p:spPr>
          <a:xfrm>
            <a:off x="13881900" y="38300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Train CNN</a:t>
            </a:r>
          </a:p>
        </p:txBody>
      </p:sp>
      <p:sp>
        <p:nvSpPr>
          <p:cNvPr id="154" name="Step detail"/>
          <p:cNvSpPr txBox="1"/>
          <p:nvPr/>
        </p:nvSpPr>
        <p:spPr>
          <a:xfrm>
            <a:off x="13881900" y="4370000"/>
            <a:ext cx="3267900" cy="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Conv1D (32) → Conv1D (64) → Dense, 50 epochs</a:t>
            </a:r>
          </a:p>
        </p:txBody>
      </p:sp>
      <p:sp>
        <p:nvSpPr>
          <p:cNvPr id="155" name="Setup card"/>
          <p:cNvSpPr/>
          <p:nvPr/>
        </p:nvSpPr>
        <p:spPr>
          <a:xfrm>
            <a:off x="838200" y="5600000"/>
            <a:ext cx="7400000" cy="3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6" name="Setup heading"/>
          <p:cNvSpPr txBox="1"/>
          <p:nvPr/>
        </p:nvSpPr>
        <p:spPr>
          <a:xfrm>
            <a:off x="1188200" y="5880000"/>
            <a:ext cx="67000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Target and safeguards</a:t>
            </a:r>
          </a:p>
        </p:txBody>
      </p:sp>
      <p:sp>
        <p:nvSpPr>
          <p:cNvPr id="157" name="Setup list"/>
          <p:cNvSpPr txBox="1"/>
          <p:nvPr/>
        </p:nvSpPr>
        <p:spPr>
          <a:xfrm>
            <a:off x="1188200" y="6600000"/>
            <a:ext cx="6700000" cy="2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500" b="0" i="0" dirty="0">
                <a:solidFill>
                  <a:srgbClr val="222222"/>
                </a:solidFill>
                <a:latin typeface="Times New Roman"/>
                <a:cs typeface="Times New Roman"/>
              </a:rPr>
              <a:t>Target: Job_Zone (Zones 2 to 5)</a:t>
            </a:r>
          </a:p>
          <a:p>
            <a:pPr marL="342900" indent="-342900" algn="l"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500" b="0" i="0" dirty="0">
                <a:solidFill>
                  <a:srgbClr val="222222"/>
                </a:solidFill>
                <a:latin typeface="Times New Roman"/>
                <a:cs typeface="Times New Roman"/>
              </a:rPr>
              <a:t>Job_Zone itself is also included among the 11 input features</a:t>
            </a:r>
          </a:p>
          <a:p>
            <a:pPr marL="342900" indent="-342900" algn="l"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500" b="0" i="0" dirty="0">
                <a:solidFill>
                  <a:srgbClr val="222222"/>
                </a:solidFill>
                <a:latin typeface="Times New Roman"/>
                <a:cs typeface="Times New Roman"/>
              </a:rPr>
              <a:t>Missing values filled with the median</a:t>
            </a:r>
          </a:p>
          <a:p>
            <a:pPr marL="342900" indent="-342900" algn="l"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500" b="0" i="0" dirty="0">
                <a:solidFill>
                  <a:srgbClr val="222222"/>
                </a:solidFill>
                <a:latin typeface="Times New Roman"/>
                <a:cs typeface="Times New Roman"/>
              </a:rPr>
              <a:t>Features scaled (StandardScaler) and reshaped for 1-D convolution</a:t>
            </a:r>
          </a:p>
        </p:txBody>
      </p:sp>
      <p:sp>
        <p:nvSpPr>
          <p:cNvPr id="158" name="Features card"/>
          <p:cNvSpPr/>
          <p:nvPr/>
        </p:nvSpPr>
        <p:spPr>
          <a:xfrm>
            <a:off x="8618200" y="5600000"/>
            <a:ext cx="8831600" cy="3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9" name="Features heading"/>
          <p:cNvSpPr txBox="1"/>
          <p:nvPr/>
        </p:nvSpPr>
        <p:spPr>
          <a:xfrm>
            <a:off x="8968200" y="5880000"/>
            <a:ext cx="81316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Features used (11)</a:t>
            </a:r>
          </a:p>
        </p:txBody>
      </p:sp>
      <p:sp>
        <p:nvSpPr>
          <p:cNvPr id="160" name="Features list"/>
          <p:cNvSpPr txBox="1"/>
          <p:nvPr/>
        </p:nvSpPr>
        <p:spPr>
          <a:xfrm>
            <a:off x="8968200" y="6600000"/>
            <a:ext cx="8131600" cy="2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12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761"/>
                </a:solidFill>
                <a:latin typeface="Times New Roman"/>
                <a:cs typeface="Times New Roman"/>
              </a:rPr>
              <a:t>Skill importance (3): </a:t>
            </a:r>
            <a:r>
              <a:rPr lang="en-US" sz="2600" b="0" i="0" dirty="0">
                <a:solidFill>
                  <a:srgbClr val="222222"/>
                </a:solidFill>
                <a:latin typeface="Times New Roman"/>
                <a:cs typeface="Times New Roman"/>
              </a:rPr>
              <a:t>count, average, maximum</a:t>
            </a:r>
          </a:p>
          <a:p>
            <a:pPr marL="342900" indent="-342900" algn="l">
              <a:spcBef>
                <a:spcPts val="0"/>
              </a:spcBef>
              <a:spcAft>
                <a:spcPts val="12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761"/>
                </a:solidFill>
                <a:latin typeface="Times New Roman"/>
                <a:cs typeface="Times New Roman"/>
              </a:rPr>
              <a:t>Technology counts (3): </a:t>
            </a:r>
            <a:r>
              <a:rPr lang="en-US" sz="2600" b="0" i="0" dirty="0">
                <a:solidFill>
                  <a:srgbClr val="222222"/>
                </a:solidFill>
                <a:latin typeface="Times New Roman"/>
                <a:cs typeface="Times New Roman"/>
              </a:rPr>
              <a:t>software, hot, in-demand</a:t>
            </a:r>
          </a:p>
          <a:p>
            <a:pPr marL="342900" indent="-342900" algn="l">
              <a:spcBef>
                <a:spcPts val="0"/>
              </a:spcBef>
              <a:spcAft>
                <a:spcPts val="12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761"/>
                </a:solidFill>
                <a:latin typeface="Times New Roman"/>
                <a:cs typeface="Times New Roman"/>
              </a:rPr>
              <a:t>Availability &amp; zone (4): </a:t>
            </a:r>
            <a:r>
              <a:rPr lang="en-US" sz="2600" b="0" i="0" dirty="0">
                <a:solidFill>
                  <a:srgbClr val="222222"/>
                </a:solidFill>
                <a:latin typeface="Times New Roman"/>
                <a:cs typeface="Times New Roman"/>
              </a:rPr>
              <a:t>job zone flag, skills, software, raw zone value</a:t>
            </a:r>
          </a:p>
          <a:p>
            <a:pPr marL="342900" indent="-342900" algn="l">
              <a:spcBef>
                <a:spcPts val="0"/>
              </a:spcBef>
              <a:spcAft>
                <a:spcPts val="12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761"/>
                </a:solidFill>
                <a:latin typeface="Times New Roman"/>
                <a:cs typeface="Times New Roman"/>
              </a:rPr>
              <a:t>Data completeness (1): </a:t>
            </a:r>
            <a:r>
              <a:rPr lang="en-US" sz="2600" b="0" i="0" dirty="0">
                <a:solidFill>
                  <a:srgbClr val="222222"/>
                </a:solidFill>
                <a:latin typeface="Times New Roman"/>
                <a:cs typeface="Times New Roman"/>
              </a:rPr>
              <a:t>percent filled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7BEC38-13EE-E8F3-803A-612038C47685}"/>
              </a:ext>
            </a:extLst>
          </p:cNvPr>
          <p:cNvSpPr txBox="1"/>
          <p:nvPr/>
        </p:nvSpPr>
        <p:spPr>
          <a:xfrm>
            <a:off x="16992600" y="94869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13/17</a:t>
            </a:r>
          </a:p>
        </p:txBody>
      </p:sp>
    </p:spTree>
    <p:extLst>
      <p:ext uri="{BB962C8B-B14F-4D97-AF65-F5344CB8AC3E}">
        <p14:creationId xmlns:p14="http://schemas.microsoft.com/office/powerpoint/2010/main" val="3533860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6A8BF-9C92-646B-AEE2-18F37F30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E2B293-C37E-E966-4249-F09991673E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BD6A04D-6563-D938-D04D-5F76A8A785C4}"/>
              </a:ext>
            </a:extLst>
          </p:cNvPr>
          <p:cNvSpPr txBox="1"/>
          <p:nvPr/>
        </p:nvSpPr>
        <p:spPr>
          <a:xfrm>
            <a:off x="838200" y="1485900"/>
            <a:ext cx="9000000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Model Evaluation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57818B9-1A10-12EB-52AC-7CBF6E26835D}"/>
              </a:ext>
            </a:extLst>
          </p:cNvPr>
          <p:cNvCxnSpPr>
            <a:cxnSpLocks/>
          </p:cNvCxnSpPr>
          <p:nvPr/>
        </p:nvCxnSpPr>
        <p:spPr>
          <a:xfrm>
            <a:off x="838200" y="2082699"/>
            <a:ext cx="41148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2" name="Stat card"/>
          <p:cNvSpPr/>
          <p:nvPr/>
        </p:nvSpPr>
        <p:spPr>
          <a:xfrm>
            <a:off x="838200" y="2750000"/>
            <a:ext cx="390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3" name="Stat value"/>
          <p:cNvSpPr txBox="1"/>
          <p:nvPr/>
        </p:nvSpPr>
        <p:spPr>
          <a:xfrm>
            <a:off x="1138200" y="2970000"/>
            <a:ext cx="3300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dirty="0">
                <a:solidFill>
                  <a:srgbClr val="1E2761"/>
                </a:solidFill>
                <a:latin typeface="Calibri"/>
                <a:cs typeface="Calibri"/>
              </a:rPr>
              <a:t>97.8%</a:t>
            </a:r>
          </a:p>
        </p:txBody>
      </p:sp>
      <p:sp>
        <p:nvSpPr>
          <p:cNvPr id="164" name="Stat label"/>
          <p:cNvSpPr txBox="1"/>
          <p:nvPr/>
        </p:nvSpPr>
        <p:spPr>
          <a:xfrm>
            <a:off x="1138200" y="4050000"/>
            <a:ext cx="33000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Accuracy</a:t>
            </a:r>
          </a:p>
        </p:txBody>
      </p:sp>
      <p:sp>
        <p:nvSpPr>
          <p:cNvPr id="165" name="Stat note"/>
          <p:cNvSpPr txBox="1"/>
          <p:nvPr/>
        </p:nvSpPr>
        <p:spPr>
          <a:xfrm>
            <a:off x="1138200" y="4530000"/>
            <a:ext cx="3300000" cy="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44546A"/>
                </a:solidFill>
                <a:latin typeface="Calibri"/>
                <a:cs typeface="Calibri"/>
              </a:rPr>
              <a:t>on 185 test careers</a:t>
            </a:r>
          </a:p>
        </p:txBody>
      </p:sp>
      <p:sp>
        <p:nvSpPr>
          <p:cNvPr id="166" name="Stat card"/>
          <p:cNvSpPr/>
          <p:nvPr/>
        </p:nvSpPr>
        <p:spPr>
          <a:xfrm>
            <a:off x="838200" y="5550000"/>
            <a:ext cx="390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7" name="Stat value"/>
          <p:cNvSpPr txBox="1"/>
          <p:nvPr/>
        </p:nvSpPr>
        <p:spPr>
          <a:xfrm>
            <a:off x="1138200" y="5770000"/>
            <a:ext cx="3300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dirty="0">
                <a:solidFill>
                  <a:srgbClr val="1E2761"/>
                </a:solidFill>
                <a:latin typeface="Calibri"/>
                <a:cs typeface="Calibri"/>
              </a:rPr>
              <a:t>0.978</a:t>
            </a:r>
          </a:p>
        </p:txBody>
      </p:sp>
      <p:sp>
        <p:nvSpPr>
          <p:cNvPr id="168" name="Stat label"/>
          <p:cNvSpPr txBox="1"/>
          <p:nvPr/>
        </p:nvSpPr>
        <p:spPr>
          <a:xfrm>
            <a:off x="1138200" y="6850000"/>
            <a:ext cx="33000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Weighted F1</a:t>
            </a:r>
          </a:p>
        </p:txBody>
      </p:sp>
      <p:sp>
        <p:nvSpPr>
          <p:cNvPr id="169" name="Stat note"/>
          <p:cNvSpPr txBox="1"/>
          <p:nvPr/>
        </p:nvSpPr>
        <p:spPr>
          <a:xfrm>
            <a:off x="1138200" y="7330000"/>
            <a:ext cx="3300000" cy="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44546A"/>
                </a:solidFill>
                <a:latin typeface="Calibri"/>
                <a:cs typeface="Calibri"/>
              </a:rPr>
              <a:t>averaged over 4 zones</a:t>
            </a:r>
          </a:p>
        </p:txBody>
      </p:sp>
      <p:sp>
        <p:nvSpPr>
          <p:cNvPr id="170" name="F1 card"/>
          <p:cNvSpPr/>
          <p:nvPr/>
        </p:nvSpPr>
        <p:spPr>
          <a:xfrm>
            <a:off x="5088200" y="2750000"/>
            <a:ext cx="6000000" cy="5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71" name="F1 heading"/>
          <p:cNvSpPr txBox="1"/>
          <p:nvPr/>
        </p:nvSpPr>
        <p:spPr>
          <a:xfrm>
            <a:off x="5438200" y="3030000"/>
            <a:ext cx="53000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Weighted performance metrics</a:t>
            </a:r>
          </a:p>
        </p:txBody>
      </p:sp>
      <p:sp>
        <p:nvSpPr>
          <p:cNvPr id="172" name="Bar label"/>
          <p:cNvSpPr txBox="1"/>
          <p:nvPr/>
        </p:nvSpPr>
        <p:spPr>
          <a:xfrm>
            <a:off x="5438200" y="3950000"/>
            <a:ext cx="125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Accuracy</a:t>
            </a:r>
          </a:p>
        </p:txBody>
      </p:sp>
      <p:sp>
        <p:nvSpPr>
          <p:cNvPr id="173" name="Bar track"/>
          <p:cNvSpPr/>
          <p:nvPr/>
        </p:nvSpPr>
        <p:spPr>
          <a:xfrm>
            <a:off x="6688200" y="3950000"/>
            <a:ext cx="3300000" cy="52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74" name="Bar"/>
          <p:cNvSpPr/>
          <p:nvPr/>
        </p:nvSpPr>
        <p:spPr>
          <a:xfrm>
            <a:off x="6688200" y="3950000"/>
            <a:ext cx="3227400" cy="52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75" name="Bar value"/>
          <p:cNvSpPr txBox="1"/>
          <p:nvPr/>
        </p:nvSpPr>
        <p:spPr>
          <a:xfrm>
            <a:off x="10108200" y="3950000"/>
            <a:ext cx="90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0.978</a:t>
            </a:r>
          </a:p>
        </p:txBody>
      </p:sp>
      <p:sp>
        <p:nvSpPr>
          <p:cNvPr id="176" name="Bar label"/>
          <p:cNvSpPr txBox="1"/>
          <p:nvPr/>
        </p:nvSpPr>
        <p:spPr>
          <a:xfrm>
            <a:off x="5438200" y="4900000"/>
            <a:ext cx="125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Precision</a:t>
            </a:r>
          </a:p>
        </p:txBody>
      </p:sp>
      <p:sp>
        <p:nvSpPr>
          <p:cNvPr id="177" name="Bar track"/>
          <p:cNvSpPr/>
          <p:nvPr/>
        </p:nvSpPr>
        <p:spPr>
          <a:xfrm>
            <a:off x="6688200" y="4900000"/>
            <a:ext cx="3300000" cy="52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78" name="Bar"/>
          <p:cNvSpPr/>
          <p:nvPr/>
        </p:nvSpPr>
        <p:spPr>
          <a:xfrm>
            <a:off x="6688200" y="4900000"/>
            <a:ext cx="3234000" cy="52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79" name="Bar value"/>
          <p:cNvSpPr txBox="1"/>
          <p:nvPr/>
        </p:nvSpPr>
        <p:spPr>
          <a:xfrm>
            <a:off x="10108200" y="4900000"/>
            <a:ext cx="90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0.980</a:t>
            </a:r>
          </a:p>
        </p:txBody>
      </p:sp>
      <p:sp>
        <p:nvSpPr>
          <p:cNvPr id="180" name="Bar label"/>
          <p:cNvSpPr txBox="1"/>
          <p:nvPr/>
        </p:nvSpPr>
        <p:spPr>
          <a:xfrm>
            <a:off x="5438200" y="5850000"/>
            <a:ext cx="125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Recall</a:t>
            </a:r>
          </a:p>
        </p:txBody>
      </p:sp>
      <p:sp>
        <p:nvSpPr>
          <p:cNvPr id="181" name="Bar track"/>
          <p:cNvSpPr/>
          <p:nvPr/>
        </p:nvSpPr>
        <p:spPr>
          <a:xfrm>
            <a:off x="6688200" y="5850000"/>
            <a:ext cx="3300000" cy="52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82" name="Bar"/>
          <p:cNvSpPr/>
          <p:nvPr/>
        </p:nvSpPr>
        <p:spPr>
          <a:xfrm>
            <a:off x="6688200" y="5850000"/>
            <a:ext cx="3227400" cy="52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83" name="Bar value"/>
          <p:cNvSpPr txBox="1"/>
          <p:nvPr/>
        </p:nvSpPr>
        <p:spPr>
          <a:xfrm>
            <a:off x="10108200" y="5850000"/>
            <a:ext cx="90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0.978</a:t>
            </a:r>
          </a:p>
        </p:txBody>
      </p:sp>
      <p:sp>
        <p:nvSpPr>
          <p:cNvPr id="184" name="Bar label"/>
          <p:cNvSpPr txBox="1"/>
          <p:nvPr/>
        </p:nvSpPr>
        <p:spPr>
          <a:xfrm>
            <a:off x="5438200" y="6800000"/>
            <a:ext cx="125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F1 score</a:t>
            </a:r>
          </a:p>
        </p:txBody>
      </p:sp>
      <p:sp>
        <p:nvSpPr>
          <p:cNvPr id="185" name="Bar track"/>
          <p:cNvSpPr/>
          <p:nvPr/>
        </p:nvSpPr>
        <p:spPr>
          <a:xfrm>
            <a:off x="6688200" y="6800000"/>
            <a:ext cx="3300000" cy="52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86" name="Bar"/>
          <p:cNvSpPr/>
          <p:nvPr/>
        </p:nvSpPr>
        <p:spPr>
          <a:xfrm>
            <a:off x="6688200" y="6800000"/>
            <a:ext cx="3227400" cy="52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87" name="Bar value"/>
          <p:cNvSpPr txBox="1"/>
          <p:nvPr/>
        </p:nvSpPr>
        <p:spPr>
          <a:xfrm>
            <a:off x="10108200" y="6800000"/>
            <a:ext cx="90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0.978</a:t>
            </a:r>
          </a:p>
        </p:txBody>
      </p:sp>
      <p:sp>
        <p:nvSpPr>
          <p:cNvPr id="188" name="F1 note"/>
          <p:cNvSpPr txBox="1"/>
          <p:nvPr/>
        </p:nvSpPr>
        <p:spPr>
          <a:xfrm>
            <a:off x="5438200" y="7550000"/>
            <a:ext cx="5300000" cy="3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44546A"/>
                </a:solidFill>
                <a:latin typeface="Calibri"/>
                <a:cs typeface="Calibri"/>
              </a:rPr>
              <a:t>Full track = perfect score (1.00)</a:t>
            </a:r>
          </a:p>
        </p:txBody>
      </p:sp>
      <p:sp>
        <p:nvSpPr>
          <p:cNvPr id="189" name="Importance card"/>
          <p:cNvSpPr/>
          <p:nvPr/>
        </p:nvSpPr>
        <p:spPr>
          <a:xfrm>
            <a:off x="11438200" y="2750000"/>
            <a:ext cx="6011600" cy="5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0" name="Importance heading"/>
          <p:cNvSpPr txBox="1"/>
          <p:nvPr/>
        </p:nvSpPr>
        <p:spPr>
          <a:xfrm>
            <a:off x="11788200" y="3030000"/>
            <a:ext cx="53116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Training curve (epoch 50)</a:t>
            </a:r>
          </a:p>
        </p:txBody>
      </p:sp>
      <p:sp>
        <p:nvSpPr>
          <p:cNvPr id="191" name="Feature label"/>
          <p:cNvSpPr txBox="1"/>
          <p:nvPr/>
        </p:nvSpPr>
        <p:spPr>
          <a:xfrm>
            <a:off x="11788200" y="3950000"/>
            <a:ext cx="5311600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Train accuracy</a:t>
            </a:r>
          </a:p>
        </p:txBody>
      </p:sp>
      <p:sp>
        <p:nvSpPr>
          <p:cNvPr id="192" name="Bar track"/>
          <p:cNvSpPr/>
          <p:nvPr/>
        </p:nvSpPr>
        <p:spPr>
          <a:xfrm>
            <a:off x="11788200" y="4400000"/>
            <a:ext cx="4200000" cy="5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93" name="Bar"/>
          <p:cNvSpPr/>
          <p:nvPr/>
        </p:nvSpPr>
        <p:spPr>
          <a:xfrm>
            <a:off x="11788200" y="4400000"/>
            <a:ext cx="4191600" cy="50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94" name="Bar value"/>
          <p:cNvSpPr txBox="1"/>
          <p:nvPr/>
        </p:nvSpPr>
        <p:spPr>
          <a:xfrm>
            <a:off x="16108200" y="4400000"/>
            <a:ext cx="90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99.8%</a:t>
            </a:r>
          </a:p>
        </p:txBody>
      </p:sp>
      <p:sp>
        <p:nvSpPr>
          <p:cNvPr id="195" name="Feature label"/>
          <p:cNvSpPr txBox="1"/>
          <p:nvPr/>
        </p:nvSpPr>
        <p:spPr>
          <a:xfrm>
            <a:off x="11788200" y="5150000"/>
            <a:ext cx="5311600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Validation accuracy</a:t>
            </a:r>
          </a:p>
        </p:txBody>
      </p:sp>
      <p:sp>
        <p:nvSpPr>
          <p:cNvPr id="196" name="Bar track"/>
          <p:cNvSpPr/>
          <p:nvPr/>
        </p:nvSpPr>
        <p:spPr>
          <a:xfrm>
            <a:off x="11788200" y="5600000"/>
            <a:ext cx="4200000" cy="5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97" name="Bar"/>
          <p:cNvSpPr/>
          <p:nvPr/>
        </p:nvSpPr>
        <p:spPr>
          <a:xfrm>
            <a:off x="11788200" y="5600000"/>
            <a:ext cx="4200000" cy="50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98" name="Bar value"/>
          <p:cNvSpPr txBox="1"/>
          <p:nvPr/>
        </p:nvSpPr>
        <p:spPr>
          <a:xfrm>
            <a:off x="16108200" y="5600000"/>
            <a:ext cx="90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100%</a:t>
            </a:r>
          </a:p>
        </p:txBody>
      </p:sp>
      <p:sp>
        <p:nvSpPr>
          <p:cNvPr id="199" name="Feature label"/>
          <p:cNvSpPr txBox="1"/>
          <p:nvPr/>
        </p:nvSpPr>
        <p:spPr>
          <a:xfrm>
            <a:off x="11788200" y="6350000"/>
            <a:ext cx="5311600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Test accuracy</a:t>
            </a:r>
          </a:p>
        </p:txBody>
      </p:sp>
      <p:sp>
        <p:nvSpPr>
          <p:cNvPr id="200" name="Bar track"/>
          <p:cNvSpPr/>
          <p:nvPr/>
        </p:nvSpPr>
        <p:spPr>
          <a:xfrm>
            <a:off x="11788200" y="6800000"/>
            <a:ext cx="4200000" cy="5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201" name="Bar"/>
          <p:cNvSpPr/>
          <p:nvPr/>
        </p:nvSpPr>
        <p:spPr>
          <a:xfrm>
            <a:off x="11788200" y="6800000"/>
            <a:ext cx="4107600" cy="50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202" name="Bar value"/>
          <p:cNvSpPr txBox="1"/>
          <p:nvPr/>
        </p:nvSpPr>
        <p:spPr>
          <a:xfrm>
            <a:off x="16108200" y="6800000"/>
            <a:ext cx="90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97.8%</a:t>
            </a:r>
          </a:p>
        </p:txBody>
      </p:sp>
      <p:sp>
        <p:nvSpPr>
          <p:cNvPr id="203" name="Importance note"/>
          <p:cNvSpPr txBox="1"/>
          <p:nvPr/>
        </p:nvSpPr>
        <p:spPr>
          <a:xfrm>
            <a:off x="11788200" y="7550000"/>
            <a:ext cx="5311600" cy="3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44546A"/>
                </a:solidFill>
                <a:latin typeface="Calibri"/>
                <a:cs typeface="Calibri"/>
              </a:rPr>
              <a:t>Full track = perfect score (1.00)</a:t>
            </a:r>
          </a:p>
        </p:txBody>
      </p:sp>
      <p:sp>
        <p:nvSpPr>
          <p:cNvPr id="204" name="Takeaway"/>
          <p:cNvSpPr/>
          <p:nvPr/>
        </p:nvSpPr>
        <p:spPr>
          <a:xfrm>
            <a:off x="838200" y="8350000"/>
            <a:ext cx="16611600" cy="850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35000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The CNN converges within about 10 epochs and generalizes cleanly to unseen careers — precision, recall and F1 all land above 0.97.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7BEC38-13EE-E8F3-803A-612038C47685}"/>
              </a:ext>
            </a:extLst>
          </p:cNvPr>
          <p:cNvSpPr txBox="1"/>
          <p:nvPr/>
        </p:nvSpPr>
        <p:spPr>
          <a:xfrm>
            <a:off x="16992600" y="94869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14/17</a:t>
            </a:r>
          </a:p>
        </p:txBody>
      </p:sp>
    </p:spTree>
    <p:extLst>
      <p:ext uri="{BB962C8B-B14F-4D97-AF65-F5344CB8AC3E}">
        <p14:creationId xmlns:p14="http://schemas.microsoft.com/office/powerpoint/2010/main" val="3533860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69EC27F0-2E21-5DF1-9879-03C574D64E0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85800" y="438912"/>
            <a:ext cx="1234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261872"/>
            <a:ext cx="1234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124194" y="171450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4194" y="171450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124194" y="253746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4194" y="253746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(Flask)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124194" y="336042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4194" y="336042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Module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124194" y="418338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4194" y="418338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Module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24194" y="500634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4194" y="500634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Recommendation Engine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124194" y="665226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4194" y="665226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Recommendation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24194" y="747522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4194" y="747522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24194" y="829818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4194" y="829818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 Module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124194" y="9121140"/>
            <a:ext cx="6035040" cy="54864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 w="28575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4194" y="91211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Career Roadmap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3380994" y="5829300"/>
            <a:ext cx="3566160" cy="521208"/>
          </a:xfrm>
          <a:prstGeom prst="roundRect">
            <a:avLst>
              <a:gd name="adj" fmla="val 1842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0994" y="582930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358634" y="5829300"/>
            <a:ext cx="3566160" cy="521208"/>
          </a:xfrm>
          <a:prstGeom prst="roundRect">
            <a:avLst>
              <a:gd name="adj" fmla="val 1842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58634" y="582930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1336274" y="5829300"/>
            <a:ext cx="3566160" cy="521208"/>
          </a:xfrm>
          <a:prstGeom prst="roundRect">
            <a:avLst>
              <a:gd name="adj" fmla="val 1842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1336274" y="582930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9141714" y="2235708"/>
            <a:ext cx="0" cy="3017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41714" y="3058668"/>
            <a:ext cx="0" cy="3017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41714" y="3881628"/>
            <a:ext cx="0" cy="3017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141714" y="4704588"/>
            <a:ext cx="0" cy="3017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41714" y="7173468"/>
            <a:ext cx="0" cy="3017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41714" y="7996428"/>
            <a:ext cx="0" cy="3017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41714" y="8819388"/>
            <a:ext cx="0" cy="3017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141714" y="5527548"/>
            <a:ext cx="0" cy="13716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5164074" y="5664708"/>
            <a:ext cx="79552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5164074" y="5664708"/>
            <a:ext cx="0" cy="16459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141714" y="5664708"/>
            <a:ext cx="0" cy="16459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3119354" y="5664708"/>
            <a:ext cx="0" cy="16459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164074" y="6350508"/>
            <a:ext cx="0" cy="13716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141714" y="6350508"/>
            <a:ext cx="0" cy="13716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13119354" y="6350508"/>
            <a:ext cx="0" cy="13716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5164074" y="6487668"/>
            <a:ext cx="79552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9141714" y="6487668"/>
            <a:ext cx="0" cy="16459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F3FE0-2E59-97FA-7D93-E5C906B9DB5F}"/>
              </a:ext>
            </a:extLst>
          </p:cNvPr>
          <p:cNvCxnSpPr>
            <a:cxnSpLocks/>
          </p:cNvCxnSpPr>
          <p:nvPr/>
        </p:nvCxnSpPr>
        <p:spPr>
          <a:xfrm>
            <a:off x="685800" y="1399032"/>
            <a:ext cx="7086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1715639-56D8-8B4A-86AC-DF90CD1AB6F8}"/>
              </a:ext>
            </a:extLst>
          </p:cNvPr>
          <p:cNvSpPr txBox="1"/>
          <p:nvPr/>
        </p:nvSpPr>
        <p:spPr>
          <a:xfrm>
            <a:off x="16992600" y="94869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16/17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3627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228522" y="-150906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2634754" y="3963894"/>
            <a:ext cx="13018493" cy="213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12492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F3D3EC-D3AB-835D-7851-52036C696656}"/>
              </a:ext>
            </a:extLst>
          </p:cNvPr>
          <p:cNvSpPr txBox="1"/>
          <p:nvPr/>
        </p:nvSpPr>
        <p:spPr>
          <a:xfrm>
            <a:off x="16992600" y="94869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17/17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6A8BF-9C92-646B-AEE2-18F37F30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E2B293-C37E-E966-4249-F09991673E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BD6A04D-6563-D938-D04D-5F76A8A785C4}"/>
              </a:ext>
            </a:extLst>
          </p:cNvPr>
          <p:cNvSpPr txBox="1"/>
          <p:nvPr/>
        </p:nvSpPr>
        <p:spPr>
          <a:xfrm>
            <a:off x="838200" y="1485900"/>
            <a:ext cx="9000000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Inside the CNN Notebook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57818B9-1A10-12EB-52AC-7CBF6E26835D}"/>
              </a:ext>
            </a:extLst>
          </p:cNvPr>
          <p:cNvCxnSpPr>
            <a:cxnSpLocks/>
          </p:cNvCxnSpPr>
          <p:nvPr/>
        </p:nvCxnSpPr>
        <p:spPr>
          <a:xfrm>
            <a:off x="838200" y="2082699"/>
            <a:ext cx="38000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6" name="Step card"/>
          <p:cNvSpPr/>
          <p:nvPr/>
        </p:nvSpPr>
        <p:spPr>
          <a:xfrm>
            <a:off x="838200" y="2750000"/>
            <a:ext cx="3867900" cy="2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7" name="Step number"/>
          <p:cNvSpPr/>
          <p:nvPr/>
        </p:nvSpPr>
        <p:spPr>
          <a:xfrm>
            <a:off x="1138200" y="301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38" name="Step title"/>
          <p:cNvSpPr txBox="1"/>
          <p:nvPr/>
        </p:nvSpPr>
        <p:spPr>
          <a:xfrm>
            <a:off x="1138200" y="38300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Build architecture</a:t>
            </a:r>
          </a:p>
        </p:txBody>
      </p:sp>
      <p:sp>
        <p:nvSpPr>
          <p:cNvPr id="139" name="Step detail"/>
          <p:cNvSpPr txBox="1"/>
          <p:nvPr/>
        </p:nvSpPr>
        <p:spPr>
          <a:xfrm>
            <a:off x="1138200" y="4370000"/>
            <a:ext cx="3267900" cy="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Conv1D(32) → MaxPool → Conv1D(64) → Flatten</a:t>
            </a:r>
          </a:p>
        </p:txBody>
      </p:sp>
      <p:sp>
        <p:nvSpPr>
          <p:cNvPr id="140" name="Step arrow"/>
          <p:cNvSpPr/>
          <p:nvPr/>
        </p:nvSpPr>
        <p:spPr>
          <a:xfrm>
            <a:off x="4766100" y="3875000"/>
            <a:ext cx="260000" cy="30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</p:sp>
      <p:sp>
        <p:nvSpPr>
          <p:cNvPr id="141" name="Step card"/>
          <p:cNvSpPr/>
          <p:nvPr/>
        </p:nvSpPr>
        <p:spPr>
          <a:xfrm>
            <a:off x="5086100" y="2750000"/>
            <a:ext cx="3867900" cy="2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2" name="Step number"/>
          <p:cNvSpPr/>
          <p:nvPr/>
        </p:nvSpPr>
        <p:spPr>
          <a:xfrm>
            <a:off x="5386100" y="301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3" name="Step title"/>
          <p:cNvSpPr txBox="1"/>
          <p:nvPr/>
        </p:nvSpPr>
        <p:spPr>
          <a:xfrm>
            <a:off x="5386100" y="38300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Compile</a:t>
            </a:r>
          </a:p>
        </p:txBody>
      </p:sp>
      <p:sp>
        <p:nvSpPr>
          <p:cNvPr id="144" name="Step detail"/>
          <p:cNvSpPr txBox="1"/>
          <p:nvPr/>
        </p:nvSpPr>
        <p:spPr>
          <a:xfrm>
            <a:off x="5386100" y="4370000"/>
            <a:ext cx="3267900" cy="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Adam optimizer, categorical cross-entropy loss</a:t>
            </a:r>
          </a:p>
        </p:txBody>
      </p:sp>
      <p:sp>
        <p:nvSpPr>
          <p:cNvPr id="145" name="Step arrow"/>
          <p:cNvSpPr/>
          <p:nvPr/>
        </p:nvSpPr>
        <p:spPr>
          <a:xfrm>
            <a:off x="9014000" y="3875000"/>
            <a:ext cx="260000" cy="30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</p:sp>
      <p:sp>
        <p:nvSpPr>
          <p:cNvPr id="146" name="Step card"/>
          <p:cNvSpPr/>
          <p:nvPr/>
        </p:nvSpPr>
        <p:spPr>
          <a:xfrm>
            <a:off x="9334000" y="2750000"/>
            <a:ext cx="3867900" cy="2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7" name="Step number"/>
          <p:cNvSpPr/>
          <p:nvPr/>
        </p:nvSpPr>
        <p:spPr>
          <a:xfrm>
            <a:off x="9634000" y="301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48" name="Step title"/>
          <p:cNvSpPr txBox="1"/>
          <p:nvPr/>
        </p:nvSpPr>
        <p:spPr>
          <a:xfrm>
            <a:off x="9634000" y="38300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Train</a:t>
            </a:r>
          </a:p>
        </p:txBody>
      </p:sp>
      <p:sp>
        <p:nvSpPr>
          <p:cNvPr id="149" name="Step detail"/>
          <p:cNvSpPr txBox="1"/>
          <p:nvPr/>
        </p:nvSpPr>
        <p:spPr>
          <a:xfrm>
            <a:off x="9634000" y="4370000"/>
            <a:ext cx="3267900" cy="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50 epochs, batch size 32, 20% validation split</a:t>
            </a:r>
          </a:p>
        </p:txBody>
      </p:sp>
      <p:sp>
        <p:nvSpPr>
          <p:cNvPr id="150" name="Step arrow"/>
          <p:cNvSpPr/>
          <p:nvPr/>
        </p:nvSpPr>
        <p:spPr>
          <a:xfrm>
            <a:off x="13261900" y="3875000"/>
            <a:ext cx="260000" cy="30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</p:sp>
      <p:sp>
        <p:nvSpPr>
          <p:cNvPr id="151" name="Step card"/>
          <p:cNvSpPr/>
          <p:nvPr/>
        </p:nvSpPr>
        <p:spPr>
          <a:xfrm>
            <a:off x="13581900" y="2750000"/>
            <a:ext cx="3867900" cy="2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2" name="Step number"/>
          <p:cNvSpPr/>
          <p:nvPr/>
        </p:nvSpPr>
        <p:spPr>
          <a:xfrm>
            <a:off x="13881900" y="3010000"/>
            <a:ext cx="640000" cy="64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53" name="Step title"/>
          <p:cNvSpPr txBox="1"/>
          <p:nvPr/>
        </p:nvSpPr>
        <p:spPr>
          <a:xfrm>
            <a:off x="13881900" y="38300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Evaluate &amp; plot</a:t>
            </a:r>
          </a:p>
        </p:txBody>
      </p:sp>
      <p:sp>
        <p:nvSpPr>
          <p:cNvPr id="154" name="Step detail"/>
          <p:cNvSpPr txBox="1"/>
          <p:nvPr/>
        </p:nvSpPr>
        <p:spPr>
          <a:xfrm>
            <a:off x="13881900" y="4370000"/>
            <a:ext cx="3267900" cy="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Accuracy/loss curves, confusion matrix, sample predictions</a:t>
            </a:r>
          </a:p>
        </p:txBody>
      </p:sp>
      <p:sp>
        <p:nvSpPr>
          <p:cNvPr id="155" name="Setup card"/>
          <p:cNvSpPr/>
          <p:nvPr/>
        </p:nvSpPr>
        <p:spPr>
          <a:xfrm>
            <a:off x="838200" y="5600000"/>
            <a:ext cx="7400000" cy="3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6" name="Setup heading"/>
          <p:cNvSpPr txBox="1"/>
          <p:nvPr/>
        </p:nvSpPr>
        <p:spPr>
          <a:xfrm>
            <a:off x="1188200" y="5880000"/>
            <a:ext cx="67000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Model size (14,852 params)</a:t>
            </a:r>
          </a:p>
        </p:txBody>
      </p:sp>
      <p:sp>
        <p:nvSpPr>
          <p:cNvPr id="157" name="Setup list"/>
          <p:cNvSpPr txBox="1"/>
          <p:nvPr/>
        </p:nvSpPr>
        <p:spPr>
          <a:xfrm>
            <a:off x="1188200" y="6600000"/>
            <a:ext cx="6700000" cy="2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500" b="0" i="0" dirty="0">
                <a:solidFill>
                  <a:srgbClr val="222222"/>
                </a:solidFill>
                <a:latin typeface="Times New Roman"/>
                <a:cs typeface="Times New Roman"/>
              </a:rPr>
              <a:t>Conv1D (32 filters): 128 params</a:t>
            </a:r>
          </a:p>
          <a:p>
            <a:pPr marL="342900" indent="-342900" algn="l"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500" b="0" i="0" dirty="0">
                <a:solidFill>
                  <a:srgbClr val="222222"/>
                </a:solidFill>
                <a:latin typeface="Times New Roman"/>
                <a:cs typeface="Times New Roman"/>
              </a:rPr>
              <a:t>Conv1D (64 filters): 6,208 params</a:t>
            </a:r>
          </a:p>
          <a:p>
            <a:pPr marL="342900" indent="-342900" algn="l"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500" b="0" i="0" dirty="0">
                <a:solidFill>
                  <a:srgbClr val="222222"/>
                </a:solidFill>
                <a:latin typeface="Times New Roman"/>
                <a:cs typeface="Times New Roman"/>
              </a:rPr>
              <a:t>Dense (64 units): 8,256 params</a:t>
            </a:r>
          </a:p>
          <a:p>
            <a:pPr marL="342900" indent="-342900" algn="l"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500" b="0" i="0" dirty="0">
                <a:solidFill>
                  <a:srgbClr val="222222"/>
                </a:solidFill>
                <a:latin typeface="Times New Roman"/>
                <a:cs typeface="Times New Roman"/>
              </a:rPr>
              <a:t>Dense (softmax, 4 units): 260 params</a:t>
            </a:r>
          </a:p>
        </p:txBody>
      </p:sp>
      <p:sp>
        <p:nvSpPr>
          <p:cNvPr id="158" name="Features card"/>
          <p:cNvSpPr/>
          <p:nvPr/>
        </p:nvSpPr>
        <p:spPr>
          <a:xfrm>
            <a:off x="8618200" y="5600000"/>
            <a:ext cx="8831600" cy="3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9" name="Features heading"/>
          <p:cNvSpPr txBox="1"/>
          <p:nvPr/>
        </p:nvSpPr>
        <p:spPr>
          <a:xfrm>
            <a:off x="8968200" y="5880000"/>
            <a:ext cx="81316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Notebook outputs</a:t>
            </a:r>
          </a:p>
        </p:txBody>
      </p:sp>
      <p:sp>
        <p:nvSpPr>
          <p:cNvPr id="160" name="Features list"/>
          <p:cNvSpPr txBox="1"/>
          <p:nvPr/>
        </p:nvSpPr>
        <p:spPr>
          <a:xfrm>
            <a:off x="8968200" y="6600000"/>
            <a:ext cx="8131600" cy="2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12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761"/>
                </a:solidFill>
                <a:latin typeface="Times New Roman"/>
                <a:cs typeface="Times New Roman"/>
              </a:rPr>
              <a:t>Training plots: </a:t>
            </a:r>
            <a:r>
              <a:rPr lang="en-US" sz="2600" b="0" i="0" dirty="0">
                <a:solidFill>
                  <a:srgbClr val="222222"/>
                </a:solidFill>
                <a:latin typeface="Times New Roman"/>
                <a:cs typeface="Times New Roman"/>
              </a:rPr>
              <a:t>accuracy &amp; loss curves over 50 epochs</a:t>
            </a:r>
          </a:p>
          <a:p>
            <a:pPr marL="342900" indent="-342900" algn="l">
              <a:spcBef>
                <a:spcPts val="0"/>
              </a:spcBef>
              <a:spcAft>
                <a:spcPts val="12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761"/>
                </a:solidFill>
                <a:latin typeface="Times New Roman"/>
                <a:cs typeface="Times New Roman"/>
              </a:rPr>
              <a:t>Diagnostics: </a:t>
            </a:r>
            <a:r>
              <a:rPr lang="en-US" sz="2600" b="0" i="0" dirty="0">
                <a:solidFill>
                  <a:srgbClr val="222222"/>
                </a:solidFill>
                <a:latin typeface="Times New Roman"/>
                <a:cs typeface="Times New Roman"/>
              </a:rPr>
              <a:t>4x4 confusion matrix across Zones 2–5</a:t>
            </a:r>
          </a:p>
          <a:p>
            <a:pPr marL="342900" indent="-342900" algn="l">
              <a:spcBef>
                <a:spcPts val="0"/>
              </a:spcBef>
              <a:spcAft>
                <a:spcPts val="12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761"/>
                </a:solidFill>
                <a:latin typeface="Times New Roman"/>
                <a:cs typeface="Times New Roman"/>
              </a:rPr>
              <a:t>Sample check: </a:t>
            </a:r>
            <a:r>
              <a:rPr lang="en-US" sz="2600" b="0" i="0" dirty="0">
                <a:solidFill>
                  <a:srgbClr val="222222"/>
                </a:solidFill>
                <a:latin typeface="Times New Roman"/>
                <a:cs typeface="Times New Roman"/>
              </a:rPr>
              <a:t>first 20 test predictions printed</a:t>
            </a:r>
          </a:p>
          <a:p>
            <a:pPr marL="342900" indent="-342900" algn="l">
              <a:spcBef>
                <a:spcPts val="0"/>
              </a:spcBef>
              <a:spcAft>
                <a:spcPts val="12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761"/>
                </a:solidFill>
                <a:latin typeface="Times New Roman"/>
                <a:cs typeface="Times New Roman"/>
              </a:rPr>
              <a:t>Final scores: </a:t>
            </a:r>
            <a:r>
              <a:rPr lang="en-US" sz="2600" b="0" i="0" dirty="0">
                <a:solidFill>
                  <a:srgbClr val="222222"/>
                </a:solidFill>
                <a:latin typeface="Times New Roman"/>
                <a:cs typeface="Times New Roman"/>
              </a:rPr>
              <a:t>97.8% accuracy, 0.978 weighted F1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7BEC38-13EE-E8F3-803A-612038C47685}"/>
              </a:ext>
            </a:extLst>
          </p:cNvPr>
          <p:cNvSpPr txBox="1"/>
          <p:nvPr/>
        </p:nvSpPr>
        <p:spPr>
          <a:xfrm>
            <a:off x="16992600" y="94869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15/17</a:t>
            </a:r>
          </a:p>
        </p:txBody>
      </p:sp>
    </p:spTree>
    <p:extLst>
      <p:ext uri="{BB962C8B-B14F-4D97-AF65-F5344CB8AC3E}">
        <p14:creationId xmlns:p14="http://schemas.microsoft.com/office/powerpoint/2010/main" val="3533860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991</Words>
  <Application>Microsoft Office PowerPoint</Application>
  <PresentationFormat>Custom</PresentationFormat>
  <Paragraphs>196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Times New Roman</vt:lpstr>
      <vt:lpstr>Canva Sans Bold</vt:lpstr>
      <vt:lpstr>Cambria</vt:lpstr>
      <vt:lpstr>Arial</vt:lpstr>
      <vt:lpstr>Calibri</vt:lpstr>
      <vt:lpstr>Cloud</vt:lpstr>
      <vt:lpstr>Wingdings</vt:lpstr>
      <vt:lpstr>Aptos</vt:lpstr>
      <vt:lpstr>Anantason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Futuristic Presentation</dc:title>
  <cp:lastModifiedBy>Senchumbeni .</cp:lastModifiedBy>
  <cp:revision>25</cp:revision>
  <dcterms:created xsi:type="dcterms:W3CDTF">2006-08-16T00:00:00Z</dcterms:created>
  <dcterms:modified xsi:type="dcterms:W3CDTF">2026-09-19T04:07:22Z</dcterms:modified>
  <dc:identifier>DAHR3insgv8</dc:identifier>
</cp:coreProperties>
</file>